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o" id="{47867383-bf53-8e81-2908-1e8c538c0f29}">
          <p14:sldIdLst>
            <p14:sldId id="256"/>
            <p14:sldId id="257"/>
          </p14:sldIdLst>
        </p14:section>
        <p14:section name="Datos" id="{d0fe9656-5d20-f013-30eb-d617bc98c679}">
          <p14:sldIdLst>
            <p14:sldId id="258"/>
            <p14:sldId id="259"/>
          </p14:sldIdLst>
        </p14:section>
        <p14:section name="Minería" id="{302f6b3a-0ee9-c6ed-020b-df183d1b80d9}">
          <p14:sldIdLst>
            <p14:sldId id="260"/>
          </p14:sldIdLst>
        </p14:section>
        <p14:section name="Resultados" id="{8add9b0d-1b4d-6b8e-c59c-85430bbb57b3}">
          <p14:sldIdLst>
            <p14:sldId id="261"/>
            <p14:sldId id="262"/>
            <p14:sldId id="263"/>
          </p14:sldIdLst>
        </p14:section>
        <p14:section name="Recomendaciones" id="{91025e23-a581-c1fc-b514-03b2dfe9fc77}">
          <p14:sldIdLst>
            <p14:sldId id="264"/>
            <p14:sldId id="265"/>
          </p14:sldIdLst>
        </p14:section>
        <p14:section name="Cierre" id="{b0e91646-9e64-d172-bbde-85da71a8f263}">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en este proyecto tome el rol de analista de prevención de fraude de un banco costarricense y use el modelo KDD sobre 5 000 transacciones para encontrar patrones de fraude y armar un modelo que el banco pueda usar.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fraude tiene dos lados, si no lo detecto el banco pierde plata, y si soy muy estricto bloqueo clientes buenos. Por eso la pregunta no es solo detectar fraude sino hacerlo sin molestar al cliente legítimo.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dataset tiene 5 000 transacciones y solo 109 son fraude. Saque los identificadores porque son códigos, los 109 fraudes están en 107 clientes distintos así que el ID no ayuda. El estado de la transacción lo saque porque se sabe después, cuando el modelo ya tuvo que decidir. Por el desbalance un modelo que diga siempre legítima acierta 97.8% sin detectar nada, por eso no use solo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Había pocos nulos, la edad la rellene con la mediana y canal y región con Desconocido para no inventar. La decisión más importante fue no borrar los outliers, porque ahí están los fraudes. El logaritmo baja el efecto de los montos gigantes sin borrarlos. Todo va en un Pipeline que se ajusta solo con train para que el modelo no vea el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Primero explore sin usar la etiqueta de fraude, con K-Means, DBSCAN y PCA, para ver si los grupos solos mostraban el patrón. En K-Means la silueta más alta era k=2 pero solo separaba día y noche, k=5 coincide con el codo y separa un grupo de montos altos. Después use modelos supervisados, Regresión Logística como base y Random Forest porque capta combinaciones de variables, los dos con class_weight balanced por el desbalance.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hallazgo principal. El fraude se concentra de noche y en montos altos, en esa combinación aprox. 1 de cada 4 transacciones es fraude. Y no es solo una técnica, la tabla cruzada, K-Means, Apriori y el Random Forest dicen lo mismo.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Regresión Logística atrapa más fraudes pero de 180 alertas solo 18 son fraude. El Random Forest atrapa 16 y no molesta a nadie. La Logística tiene el AUC más alto porque ordena bien en general, pero con el umbral normal lanza demasiadas alertas. Accuracy no la uso como métrica principal porque decir siempre legítima ya da 97.8%.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 izquierda los clusters de K-Means en el espacio PCA y a la derecha el mismo espacio coloreado por fraude, los fraudes no están al azar. En el Random Forest el monto es por mucho la variable más importante, seguido del horario. Canal, región y tipo casi no influyen.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da una probabilidad y propongo 3 niveles. Casi todos se aprueban sin molestar, unos pocos piden un OTP y solo los de riesgo alto se bloquean, y en el test todos esos eran fraude. Mientras se implementa, una regla simple de verificación para montos altos de noche ya cubre el patrón principal.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datos son sintéticos y hay pocos fraudes en el test, entonces un fraude más o menos cambia mucho el recall. Hay 4 fraudes que no siguen el patrón y para atraparlos haría falta el historial del cliente, como cuánto gasta normalmente.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Respondiendo la pregunta, el fraude se distingue por cuánto y cuándo, monto alto de noche, no por quién ni por qué canal. Y el banco lo puede usar con el Random Forest en 3 niveles para atrapar los fraudes sin molestar a los clientes buenos.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1F386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rtlCol="0"/>
          <a:lstStyle>
            <a:lvl1pPr indent="0" marL="0">
              <a:buNone/>
              <a:defRPr lang="en-US" sz="2800" b="1" dirty="0">
                <a:solidFill>
                  <a:schemeClr val="tx2"/>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nchor="b"/>
          <a:lstStyle/>
          <a:p>
            <a:pPr indent="0" marL="0">
              <a:buNone/>
            </a:pPr>
            <a:r>
              <a:rPr lang="en-US" sz="3600" b="1" dirty="0">
                <a:solidFill>
                  <a:schemeClr val="bg1"/>
                </a:solidFill>
              </a:rPr>
              <a:t>Detección de Fraude Bancario con el modelo KDD</a:t>
            </a:r>
            <a:endParaRPr lang="en-US" sz="3600" dirty="0"/>
          </a:p>
        </p:txBody>
      </p:sp>
      <p:sp>
        <p:nvSpPr>
          <p:cNvPr id="3" name="Text 1"/>
          <p:cNvSpPr txBox="1"/>
          <p:nvPr/>
        </p:nvSpPr>
        <p:spPr>
          <a:xfrm>
            <a:off x="548640" y="3017520"/>
            <a:ext cx="8046720" cy="731520"/>
          </a:xfrm>
          <a:prstGeom prst="rect">
            <a:avLst/>
          </a:prstGeom>
          <a:noFill/>
          <a:ln/>
        </p:spPr>
        <p:txBody>
          <a:bodyPr wrap="square" lIns="0" tIns="0" rIns="0" bIns="0" rtlCol="0" anchor="t"/>
          <a:lstStyle/>
          <a:p>
            <a:pPr indent="0" marL="0">
              <a:buNone/>
            </a:pPr>
            <a:r>
              <a:rPr lang="en-US" sz="1400" dirty="0">
                <a:solidFill>
                  <a:schemeClr val="bg1"/>
                </a:solidFill>
              </a:rPr>
              <a:t>Proyecto Final SINF-633 · Análisis Exploratorio de Datos · Universidad Cenfotec</a:t>
            </a:r>
            <a:endParaRPr lang="en-US" sz="1400" dirty="0"/>
          </a:p>
          <a:p>
            <a:pPr indent="0" marL="0">
              <a:buNone/>
            </a:pPr>
            <a:r>
              <a:rPr lang="en-US" sz="1400" dirty="0">
                <a:solidFill>
                  <a:schemeClr val="bg1"/>
                </a:solidFill>
              </a:rPr>
              <a:t>[Nombre del estudiante] · Octubre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2"/>
                </a:solidFill>
              </a:rPr>
              <a:t>El problema</a:t>
            </a:r>
            <a:endParaRPr lang="en-US" sz="2800" dirty="0"/>
          </a:p>
        </p:txBody>
      </p:sp>
      <p:sp>
        <p:nvSpPr>
          <p:cNvPr id="3" name="Text 1"/>
          <p:cNvSpPr txBox="1"/>
          <p:nvPr/>
        </p:nvSpPr>
        <p:spPr>
          <a:xfrm>
            <a:off x="457200" y="1097280"/>
            <a:ext cx="8229600" cy="16459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Si no detectamos un fraude, el banco pierde dinero</a:t>
            </a:r>
            <a:endParaRPr lang="en-US" sz="1600" dirty="0"/>
          </a:p>
          <a:p>
            <a:pPr marL="342900" indent="-342900">
              <a:spcAft>
                <a:spcPts val="800"/>
              </a:spcAft>
              <a:buSzPct val="100000"/>
              <a:buChar char="•"/>
            </a:pPr>
            <a:r>
              <a:rPr lang="en-US" sz="1600" dirty="0">
                <a:solidFill>
                  <a:schemeClr val="tx1"/>
                </a:solidFill>
              </a:rPr>
              <a:t>Si bloqueamos a un cliente bueno, se molesta y puede irse a otro banco</a:t>
            </a:r>
            <a:endParaRPr lang="en-US" sz="1600" dirty="0"/>
          </a:p>
          <a:p>
            <a:pPr marL="342900" indent="-342900">
              <a:spcAft>
                <a:spcPts val="800"/>
              </a:spcAft>
              <a:buSzPct val="100000"/>
              <a:buChar char="•"/>
            </a:pPr>
            <a:r>
              <a:rPr lang="en-US" sz="1600" dirty="0">
                <a:solidFill>
                  <a:schemeClr val="tx1"/>
                </a:solidFill>
              </a:rPr>
              <a:t>Hay que encontrar un equilibrio entre los dos</a:t>
            </a:r>
            <a:endParaRPr lang="en-US" sz="1600" dirty="0"/>
          </a:p>
        </p:txBody>
      </p:sp>
      <p:sp>
        <p:nvSpPr>
          <p:cNvPr id="4" name="Shape 2"/>
          <p:cNvSpPr/>
          <p:nvPr/>
        </p:nvSpPr>
        <p:spPr>
          <a:xfrm>
            <a:off x="457200" y="3017520"/>
            <a:ext cx="8229600" cy="1371600"/>
          </a:xfrm>
          <a:prstGeom prst="rect">
            <a:avLst/>
          </a:prstGeom>
          <a:solidFill>
            <a:schemeClr val="bg2"/>
          </a:solidFill>
          <a:ln/>
        </p:spPr>
      </p:sp>
      <p:sp>
        <p:nvSpPr>
          <p:cNvPr id="5" name="Text 3"/>
          <p:cNvSpPr txBox="1"/>
          <p:nvPr/>
        </p:nvSpPr>
        <p:spPr>
          <a:xfrm>
            <a:off x="640080" y="3154680"/>
            <a:ext cx="7863840" cy="1097280"/>
          </a:xfrm>
          <a:prstGeom prst="rect">
            <a:avLst/>
          </a:prstGeom>
          <a:noFill/>
          <a:ln/>
        </p:spPr>
        <p:txBody>
          <a:bodyPr wrap="square" lIns="0" tIns="0" rIns="0" bIns="0" rtlCol="0" anchor="t"/>
          <a:lstStyle/>
          <a:p>
            <a:pPr indent="0" marL="0">
              <a:buNone/>
            </a:pPr>
            <a:r>
              <a:rPr lang="en-US" sz="1600" b="1" dirty="0">
                <a:solidFill>
                  <a:schemeClr val="tx1"/>
                </a:solidFill>
              </a:rPr>
              <a:t>Pregunta central: </a:t>
            </a:r>
            <a:pPr indent="0" marL="0">
              <a:buNone/>
            </a:pPr>
            <a:r>
              <a:rPr lang="en-US" sz="1600" i="1" dirty="0">
                <a:solidFill>
                  <a:schemeClr val="tx1"/>
                </a:solidFill>
              </a:rPr>
              <a:t>¿Qué patrones permiten distinguir transacciones legítimas de fraudulentas, y cómo puede el banco usarlos para reducir pérdidas sin molestar al cliente legítimo?</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2"/>
                </a:solidFill>
              </a:rPr>
              <a:t>Datos y criterios de selección</a:t>
            </a:r>
            <a:endParaRPr lang="en-US" sz="2800" dirty="0"/>
          </a:p>
        </p:txBody>
      </p:sp>
      <p:sp>
        <p:nvSpPr>
          <p:cNvPr id="3" name="Text 1"/>
          <p:cNvSpPr txBox="1"/>
          <p:nvPr/>
        </p:nvSpPr>
        <p:spPr>
          <a:xfrm>
            <a:off x="457200" y="1097280"/>
            <a:ext cx="4572000" cy="35661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5 000 transacciones del 2024 y 11 variables</a:t>
            </a:r>
            <a:endParaRPr lang="en-US" sz="1600" dirty="0"/>
          </a:p>
          <a:p>
            <a:pPr marL="342900" indent="-342900">
              <a:spcAft>
                <a:spcPts val="800"/>
              </a:spcAft>
              <a:buSzPct val="100000"/>
              <a:buChar char="•"/>
            </a:pPr>
            <a:r>
              <a:rPr lang="en-US" sz="1600" dirty="0">
                <a:solidFill>
                  <a:schemeClr val="tx1"/>
                </a:solidFill>
              </a:rPr>
              <a:t>Solo 109 son fraude (2.18%), aprox. 45 legítimas por cada fraude</a:t>
            </a:r>
            <a:endParaRPr lang="en-US" sz="1600" dirty="0"/>
          </a:p>
          <a:p>
            <a:pPr marL="342900" indent="-342900">
              <a:spcAft>
                <a:spcPts val="800"/>
              </a:spcAft>
              <a:buSzPct val="100000"/>
              <a:buChar char="•"/>
            </a:pPr>
            <a:r>
              <a:rPr lang="en-US" sz="1600" dirty="0">
                <a:solidFill>
                  <a:schemeClr val="tx1"/>
                </a:solidFill>
              </a:rPr>
              <a:t>Saque los IDs porque son códigos y no miden nada</a:t>
            </a:r>
            <a:endParaRPr lang="en-US" sz="1600" dirty="0"/>
          </a:p>
          <a:p>
            <a:pPr marL="342900" indent="-342900">
              <a:spcAft>
                <a:spcPts val="800"/>
              </a:spcAft>
              <a:buSzPct val="100000"/>
              <a:buChar char="•"/>
            </a:pPr>
            <a:r>
              <a:rPr lang="en-US" sz="1600" dirty="0">
                <a:solidFill>
                  <a:schemeClr val="tx1"/>
                </a:solidFill>
              </a:rPr>
              <a:t>Saque estado_transaccion del modelo porque se conoce después de la transacción (data leakage)</a:t>
            </a:r>
            <a:endParaRPr lang="en-US" sz="1600" dirty="0"/>
          </a:p>
          <a:p>
            <a:pPr marL="342900" indent="-342900">
              <a:spcAft>
                <a:spcPts val="800"/>
              </a:spcAft>
              <a:buSzPct val="100000"/>
              <a:buChar char="•"/>
            </a:pPr>
            <a:r>
              <a:rPr lang="en-US" sz="1600" dirty="0">
                <a:solidFill>
                  <a:schemeClr val="tx1"/>
                </a:solidFill>
              </a:rPr>
              <a:t>fecha_hora la use para sacar la hora y si fue de noche</a:t>
            </a:r>
            <a:endParaRPr lang="en-US" sz="1600" dirty="0"/>
          </a:p>
        </p:txBody>
      </p:sp>
      <p:pic>
        <p:nvPicPr>
          <p:cNvPr id="4" name="monto_x_noche.png" descr="v05/figuras/monto_x_noche.png">    </p:cNvPr>
          <p:cNvPicPr>
            <a:picLocks noChangeAspect="1"/>
          </p:cNvPicPr>
          <p:nvPr/>
        </p:nvPicPr>
        <p:blipFill>
          <a:blip r:embed="rId1"/>
          <a:stretch>
            <a:fillRect/>
          </a:stretch>
        </p:blipFill>
        <p:spPr>
          <a:xfrm>
            <a:off x="5303520" y="1188720"/>
            <a:ext cx="3383280" cy="2765242"/>
          </a:xfrm>
          <a:prstGeom prst="rect">
            <a:avLst/>
          </a:prstGeom>
        </p:spPr>
      </p:pic>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2"/>
                </a:solidFill>
              </a:rPr>
              <a:t>Preprocesamiento y transformación</a:t>
            </a:r>
            <a:endParaRPr lang="en-US" sz="2800" dirty="0"/>
          </a:p>
        </p:txBody>
      </p:sp>
      <p:sp>
        <p:nvSpPr>
          <p:cNvPr id="3" name="Text 1"/>
          <p:cNvSpPr txBox="1"/>
          <p:nvPr/>
        </p:nvSpPr>
        <p:spPr>
          <a:xfrm>
            <a:off x="457200" y="1097280"/>
            <a:ext cx="822960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Nulos (aprox. 1.4%): edad con la mediana, canal y región con "Desconocido"</a:t>
            </a:r>
            <a:endParaRPr lang="en-US" sz="1600" dirty="0"/>
          </a:p>
          <a:p>
            <a:pPr marL="342900" indent="-342900">
              <a:spcAft>
                <a:spcPts val="600"/>
              </a:spcAft>
              <a:buSzPct val="100000"/>
              <a:buChar char="•"/>
            </a:pPr>
            <a:r>
              <a:rPr lang="en-US" sz="1600" dirty="0">
                <a:solidFill>
                  <a:schemeClr val="tx1"/>
                </a:solidFill>
              </a:rPr>
              <a:t>Outliers con IQR: los conserve porque los montos atípicos tienen 22 veces más fraude</a:t>
            </a:r>
            <a:endParaRPr lang="en-US" sz="1600" dirty="0"/>
          </a:p>
          <a:p>
            <a:pPr marL="342900" indent="-342900">
              <a:spcAft>
                <a:spcPts val="600"/>
              </a:spcAft>
              <a:buSzPct val="100000"/>
              <a:buChar char="•"/>
            </a:pPr>
            <a:r>
              <a:rPr lang="en-US" sz="1600" dirty="0">
                <a:solidFill>
                  <a:schemeClr val="tx1"/>
                </a:solidFill>
              </a:rPr>
              <a:t>Duplicados: no hubo ninguno</a:t>
            </a:r>
            <a:endParaRPr lang="en-US" sz="1600" dirty="0"/>
          </a:p>
          <a:p>
            <a:pPr marL="342900" indent="-342900">
              <a:spcAft>
                <a:spcPts val="600"/>
              </a:spcAft>
              <a:buSzPct val="100000"/>
              <a:buChar char="•"/>
            </a:pPr>
            <a:r>
              <a:rPr lang="en-US" sz="1600" dirty="0">
                <a:solidFill>
                  <a:schemeClr val="tx1"/>
                </a:solidFill>
              </a:rPr>
              <a:t>Logaritmo al monto: la asimetría bajo de 8.66 a 1.64</a:t>
            </a:r>
            <a:endParaRPr lang="en-US" sz="1600" dirty="0"/>
          </a:p>
          <a:p>
            <a:pPr marL="342900" indent="-342900">
              <a:spcAft>
                <a:spcPts val="600"/>
              </a:spcAft>
              <a:buSzPct val="100000"/>
              <a:buChar char="•"/>
            </a:pPr>
            <a:r>
              <a:rPr lang="en-US" sz="1600" dirty="0">
                <a:solidFill>
                  <a:schemeClr val="tx1"/>
                </a:solidFill>
              </a:rPr>
              <a:t>Variables nuevas: monto_log, hora_dia y es_noche</a:t>
            </a:r>
            <a:endParaRPr lang="en-US" sz="1600" dirty="0"/>
          </a:p>
          <a:p>
            <a:pPr marL="342900" indent="-342900">
              <a:spcAft>
                <a:spcPts val="600"/>
              </a:spcAft>
              <a:buSzPct val="100000"/>
              <a:buChar char="•"/>
            </a:pPr>
            <a:r>
              <a:rPr lang="en-US" sz="1600" dirty="0">
                <a:solidFill>
                  <a:schemeClr val="tx1"/>
                </a:solidFill>
              </a:rPr>
              <a:t>Ningún par con correlación mayor a 0.8</a:t>
            </a:r>
            <a:endParaRPr lang="en-US" sz="1600" dirty="0"/>
          </a:p>
          <a:p>
            <a:pPr marL="342900" indent="-342900">
              <a:spcAft>
                <a:spcPts val="600"/>
              </a:spcAft>
              <a:buSzPct val="100000"/>
              <a:buChar char="•"/>
            </a:pPr>
            <a:r>
              <a:rPr lang="en-US" sz="1600" dirty="0">
                <a:solidFill>
                  <a:schemeClr val="tx1"/>
                </a:solidFill>
              </a:rPr>
              <a:t>Split 80/20 con stratify y semilla 42, Pipeline con OneHotEncoder y StandardScaler</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2"/>
                </a:solidFill>
              </a:rPr>
              <a:t>Algoritmos que use</a:t>
            </a:r>
            <a:endParaRPr lang="en-US" sz="2800" dirty="0"/>
          </a:p>
        </p:txBody>
      </p:sp>
      <p:sp>
        <p:nvSpPr>
          <p:cNvPr id="3" name="Text 1"/>
          <p:cNvSpPr txBox="1"/>
          <p:nvPr/>
        </p:nvSpPr>
        <p:spPr>
          <a:xfrm>
            <a:off x="457200" y="1097280"/>
            <a:ext cx="3931920" cy="365760"/>
          </a:xfrm>
          <a:prstGeom prst="rect">
            <a:avLst/>
          </a:prstGeom>
          <a:noFill/>
          <a:ln/>
        </p:spPr>
        <p:txBody>
          <a:bodyPr wrap="square" lIns="0" tIns="0" rIns="0" bIns="0" rtlCol="0" anchor="t"/>
          <a:lstStyle/>
          <a:p>
            <a:pPr indent="0" marL="0">
              <a:buNone/>
            </a:pPr>
            <a:r>
              <a:rPr lang="en-US" sz="1800" b="1" dirty="0">
                <a:solidFill>
                  <a:schemeClr val="tx2"/>
                </a:solidFill>
              </a:rPr>
              <a:t>No supervisado</a:t>
            </a:r>
            <a:endParaRPr lang="en-US" sz="1800" dirty="0"/>
          </a:p>
        </p:txBody>
      </p:sp>
      <p:sp>
        <p:nvSpPr>
          <p:cNvPr id="4" name="Text 2"/>
          <p:cNvSpPr txBox="1"/>
          <p:nvPr/>
        </p:nvSpPr>
        <p:spPr>
          <a:xfrm>
            <a:off x="457200" y="1554480"/>
            <a:ext cx="393192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K-Means (k de 2 a 10), elegí k = 5</a:t>
            </a:r>
            <a:endParaRPr lang="en-US" sz="1600" dirty="0"/>
          </a:p>
          <a:p>
            <a:pPr marL="342900" indent="-342900">
              <a:spcAft>
                <a:spcPts val="800"/>
              </a:spcAft>
              <a:buSzPct val="100000"/>
              <a:buChar char="•"/>
            </a:pPr>
            <a:r>
              <a:rPr lang="en-US" sz="1600" dirty="0">
                <a:solidFill>
                  <a:schemeClr val="tx1"/>
                </a:solidFill>
              </a:rPr>
              <a:t>DBSCAN (eps = 0.8, min_samples = 10)</a:t>
            </a:r>
            <a:endParaRPr lang="en-US" sz="1600" dirty="0"/>
          </a:p>
          <a:p>
            <a:pPr marL="342900" indent="-342900">
              <a:spcAft>
                <a:spcPts val="800"/>
              </a:spcAft>
              <a:buSzPct val="100000"/>
              <a:buChar char="•"/>
            </a:pPr>
            <a:r>
              <a:rPr lang="en-US" sz="1600" dirty="0">
                <a:solidFill>
                  <a:schemeClr val="tx1"/>
                </a:solidFill>
              </a:rPr>
              <a:t>PCA a 2 y 3 componentes</a:t>
            </a:r>
            <a:endParaRPr lang="en-US" sz="1600" dirty="0"/>
          </a:p>
          <a:p>
            <a:pPr marL="342900" indent="-342900">
              <a:spcAft>
                <a:spcPts val="800"/>
              </a:spcAft>
              <a:buSzPct val="100000"/>
              <a:buChar char="•"/>
            </a:pPr>
            <a:r>
              <a:rPr lang="en-US" sz="1600" dirty="0">
                <a:solidFill>
                  <a:schemeClr val="tx1"/>
                </a:solidFill>
              </a:rPr>
              <a:t>Apriori (bonus)</a:t>
            </a:r>
            <a:endParaRPr lang="en-US" sz="1600" dirty="0"/>
          </a:p>
        </p:txBody>
      </p:sp>
      <p:sp>
        <p:nvSpPr>
          <p:cNvPr id="5" name="Text 3"/>
          <p:cNvSpPr txBox="1"/>
          <p:nvPr/>
        </p:nvSpPr>
        <p:spPr>
          <a:xfrm>
            <a:off x="4754880" y="1097280"/>
            <a:ext cx="3931920" cy="365760"/>
          </a:xfrm>
          <a:prstGeom prst="rect">
            <a:avLst/>
          </a:prstGeom>
          <a:noFill/>
          <a:ln/>
        </p:spPr>
        <p:txBody>
          <a:bodyPr wrap="square" lIns="0" tIns="0" rIns="0" bIns="0" rtlCol="0" anchor="t"/>
          <a:lstStyle/>
          <a:p>
            <a:pPr indent="0" marL="0">
              <a:buNone/>
            </a:pPr>
            <a:r>
              <a:rPr lang="en-US" sz="1800" b="1" dirty="0">
                <a:solidFill>
                  <a:schemeClr val="tx2"/>
                </a:solidFill>
              </a:rPr>
              <a:t>Supervisado</a:t>
            </a:r>
            <a:endParaRPr lang="en-US" sz="1800" dirty="0"/>
          </a:p>
        </p:txBody>
      </p:sp>
      <p:sp>
        <p:nvSpPr>
          <p:cNvPr id="6" name="Text 4"/>
          <p:cNvSpPr txBox="1"/>
          <p:nvPr/>
        </p:nvSpPr>
        <p:spPr>
          <a:xfrm>
            <a:off x="4754880" y="1554480"/>
            <a:ext cx="393192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Regresión Logística (balanced)</a:t>
            </a:r>
            <a:endParaRPr lang="en-US" sz="1600" dirty="0"/>
          </a:p>
          <a:p>
            <a:pPr marL="342900" indent="-342900">
              <a:spcAft>
                <a:spcPts val="800"/>
              </a:spcAft>
              <a:buSzPct val="100000"/>
              <a:buChar char="•"/>
            </a:pPr>
            <a:r>
              <a:rPr lang="en-US" sz="1600" dirty="0">
                <a:solidFill>
                  <a:schemeClr val="tx1"/>
                </a:solidFill>
              </a:rPr>
              <a:t>Random Forest (balanced)</a:t>
            </a:r>
            <a:endParaRPr lang="en-US" sz="1600" dirty="0"/>
          </a:p>
          <a:p>
            <a:pPr marL="342900" indent="-342900">
              <a:spcAft>
                <a:spcPts val="800"/>
              </a:spcAft>
              <a:buSzPct val="100000"/>
              <a:buChar char="•"/>
            </a:pPr>
            <a:r>
              <a:rPr lang="en-US" sz="1600" dirty="0">
                <a:solidFill>
                  <a:schemeClr val="tx1"/>
                </a:solidFill>
              </a:rPr>
              <a:t>Gradient Boosting (extra)</a:t>
            </a:r>
            <a:endParaRPr lang="en-US" sz="1600" dirty="0"/>
          </a:p>
          <a:p>
            <a:pPr marL="342900" indent="-342900">
              <a:spcAft>
                <a:spcPts val="800"/>
              </a:spcAft>
              <a:buSzPct val="100000"/>
              <a:buChar char="•"/>
            </a:pPr>
            <a:r>
              <a:rPr lang="en-US" sz="1600" dirty="0">
                <a:solidFill>
                  <a:schemeClr val="tx1"/>
                </a:solidFill>
              </a:rPr>
              <a:t>Test: 1 000 transacciones, 22 fraudes</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2"/>
                </a:solidFill>
              </a:rPr>
              <a:t>Lo encontrado: monto alto + noche = fraude</a:t>
            </a:r>
            <a:endParaRPr lang="en-US" sz="2800" dirty="0"/>
          </a:p>
        </p:txBody>
      </p:sp>
      <p:pic>
        <p:nvPicPr>
          <p:cNvPr id="3" name="fraude_por_hora.png" descr="v05/figuras/fraude_por_hora.png">    </p:cNvPr>
          <p:cNvPicPr>
            <a:picLocks noChangeAspect="1"/>
          </p:cNvPicPr>
          <p:nvPr/>
        </p:nvPicPr>
        <p:blipFill>
          <a:blip r:embed="rId1"/>
          <a:stretch>
            <a:fillRect/>
          </a:stretch>
        </p:blipFill>
        <p:spPr>
          <a:xfrm>
            <a:off x="457200" y="1097280"/>
            <a:ext cx="5120640" cy="1967113"/>
          </a:xfrm>
          <a:prstGeom prst="rect">
            <a:avLst/>
          </a:prstGeom>
        </p:spPr>
      </p:pic>
      <p:sp>
        <p:nvSpPr>
          <p:cNvPr id="4" name="Text 1"/>
          <p:cNvSpPr txBox="1"/>
          <p:nvPr/>
        </p:nvSpPr>
        <p:spPr>
          <a:xfrm>
            <a:off x="5760720" y="1188720"/>
            <a:ext cx="3017520" cy="32918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Monto alto de noche: aprox. 24% de fraude</a:t>
            </a:r>
            <a:endParaRPr lang="en-US" sz="1500" dirty="0"/>
          </a:p>
          <a:p>
            <a:pPr marL="342900" indent="-342900">
              <a:spcAft>
                <a:spcPts val="800"/>
              </a:spcAft>
              <a:buSzPct val="100000"/>
              <a:buChar char="•"/>
            </a:pPr>
            <a:r>
              <a:rPr lang="en-US" sz="1500" dirty="0">
                <a:solidFill>
                  <a:schemeClr val="tx1"/>
                </a:solidFill>
              </a:rPr>
              <a:t>En el resto no pasa de 1.5%</a:t>
            </a:r>
            <a:endParaRPr lang="en-US" sz="1500" dirty="0"/>
          </a:p>
          <a:p>
            <a:pPr marL="342900" indent="-342900">
              <a:spcAft>
                <a:spcPts val="800"/>
              </a:spcAft>
              <a:buSzPct val="100000"/>
              <a:buChar char="•"/>
            </a:pPr>
            <a:r>
              <a:rPr lang="en-US" sz="1500" dirty="0">
                <a:solidFill>
                  <a:schemeClr val="tx1"/>
                </a:solidFill>
              </a:rPr>
              <a:t>K-Means: un cluster de montos altos con 32% de fraude</a:t>
            </a:r>
            <a:endParaRPr lang="en-US" sz="1500" dirty="0"/>
          </a:p>
          <a:p>
            <a:pPr marL="342900" indent="-342900">
              <a:spcAft>
                <a:spcPts val="800"/>
              </a:spcAft>
              <a:buSzPct val="100000"/>
              <a:buChar char="•"/>
            </a:pPr>
            <a:r>
              <a:rPr lang="en-US" sz="1500" dirty="0">
                <a:solidFill>
                  <a:schemeClr val="tx1"/>
                </a:solidFill>
              </a:rPr>
              <a:t>Apriori: monto alto + noche tiene lift 11</a:t>
            </a: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2"/>
                </a:solidFill>
              </a:rPr>
              <a:t>Comparación de modelos</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108960"/>
                <a:gridCol w="1280160"/>
                <a:gridCol w="1280160"/>
                <a:gridCol w="1280160"/>
                <a:gridCol w="1280160"/>
              </a:tblGrid>
              <a:tr h="384048">
                <a:tc>
                  <a:txBody>
                    <a:bodyPr/>
                    <a:lstStyle/>
                    <a:p>
                      <a:pPr indent="0" marL="0">
                        <a:buNone/>
                      </a:pPr>
                      <a:r>
                        <a:rPr lang="en-US" sz="1500" b="1" dirty="0">
                          <a:solidFill>
                            <a:srgbClr val="222222"/>
                          </a:solidFill>
                          <a:latin typeface="Calibri" pitchFamily="34" charset="0"/>
                          <a:ea typeface="Calibri" pitchFamily="34" charset="-122"/>
                          <a:cs typeface="Calibri" pitchFamily="34" charset="-120"/>
                        </a:rPr>
                        <a:t>Modelo</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solidFill>
                      <a:srgbClr val="D9E2F3"/>
                    </a:solidFill>
                  </a:tcPr>
                </a:tc>
                <a:tc>
                  <a:txBody>
                    <a:bodyPr/>
                    <a:lstStyle/>
                    <a:p>
                      <a:pPr indent="0" marL="0">
                        <a:buNone/>
                      </a:pPr>
                      <a:r>
                        <a:rPr lang="en-US" sz="1500" b="1" dirty="0">
                          <a:solidFill>
                            <a:srgbClr val="222222"/>
                          </a:solidFill>
                          <a:latin typeface="Calibri" pitchFamily="34" charset="0"/>
                          <a:ea typeface="Calibri" pitchFamily="34" charset="-122"/>
                          <a:cs typeface="Calibri" pitchFamily="34" charset="-120"/>
                        </a:rPr>
                        <a:t>Precision</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solidFill>
                      <a:srgbClr val="D9E2F3"/>
                    </a:solidFill>
                  </a:tcPr>
                </a:tc>
                <a:tc>
                  <a:txBody>
                    <a:bodyPr/>
                    <a:lstStyle/>
                    <a:p>
                      <a:pPr indent="0" marL="0">
                        <a:buNone/>
                      </a:pPr>
                      <a:r>
                        <a:rPr lang="en-US" sz="1500" b="1" dirty="0">
                          <a:solidFill>
                            <a:srgbClr val="222222"/>
                          </a:solidFill>
                          <a:latin typeface="Calibri" pitchFamily="34" charset="0"/>
                          <a:ea typeface="Calibri" pitchFamily="34" charset="-122"/>
                          <a:cs typeface="Calibri" pitchFamily="34" charset="-120"/>
                        </a:rPr>
                        <a:t>Recall</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solidFill>
                      <a:srgbClr val="D9E2F3"/>
                    </a:solidFill>
                  </a:tcPr>
                </a:tc>
                <a:tc>
                  <a:txBody>
                    <a:bodyPr/>
                    <a:lstStyle/>
                    <a:p>
                      <a:pPr indent="0" marL="0">
                        <a:buNone/>
                      </a:pPr>
                      <a:r>
                        <a:rPr lang="en-US" sz="1500" b="1" dirty="0">
                          <a:solidFill>
                            <a:srgbClr val="222222"/>
                          </a:solidFill>
                          <a:latin typeface="Calibri" pitchFamily="34" charset="0"/>
                          <a:ea typeface="Calibri" pitchFamily="34" charset="-122"/>
                          <a:cs typeface="Calibri" pitchFamily="34" charset="-120"/>
                        </a:rPr>
                        <a:t>F1</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solidFill>
                      <a:srgbClr val="D9E2F3"/>
                    </a:solidFill>
                  </a:tcPr>
                </a:tc>
                <a:tc>
                  <a:txBody>
                    <a:bodyPr/>
                    <a:lstStyle/>
                    <a:p>
                      <a:pPr indent="0" marL="0">
                        <a:buNone/>
                      </a:pPr>
                      <a:r>
                        <a:rPr lang="en-US" sz="1500" b="1" dirty="0">
                          <a:solidFill>
                            <a:srgbClr val="222222"/>
                          </a:solidFill>
                          <a:latin typeface="Calibri" pitchFamily="34" charset="0"/>
                          <a:ea typeface="Calibri" pitchFamily="34" charset="-122"/>
                          <a:cs typeface="Calibri" pitchFamily="34" charset="-120"/>
                        </a:rPr>
                        <a:t>AUC</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solidFill>
                      <a:srgbClr val="D9E2F3"/>
                    </a:solidFill>
                  </a:tcPr>
                </a:tc>
              </a:tr>
              <a:tr h="384048">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Regresión Logística</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tcPr>
                </a:tc>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0.100</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tcPr>
                </a:tc>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0.818</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tcPr>
                </a:tc>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0.178</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tcPr>
                </a:tc>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0.906</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tcPr>
                </a:tc>
              </a:tr>
              <a:tr h="384048">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Random Forest</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tcPr>
                </a:tc>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1.000</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tcPr>
                </a:tc>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0.727</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tcPr>
                </a:tc>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0.842</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tcPr>
                </a:tc>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0.894</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tcPr>
                </a:tc>
              </a:tr>
              <a:tr h="384048">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Gradient Boosting</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tcPr>
                </a:tc>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0.895</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tcPr>
                </a:tc>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0.773</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tcPr>
                </a:tc>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0.829</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tcPr>
                </a:tc>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0.889</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tcPr>
                </a:tc>
              </a:tr>
            </a:tbl>
          </a:graphicData>
        </a:graphic>
      </p:graphicFrame>
      <p:sp>
        <p:nvSpPr>
          <p:cNvPr id="4" name="Text 1"/>
          <p:cNvSpPr txBox="1"/>
          <p:nvPr/>
        </p:nvSpPr>
        <p:spPr>
          <a:xfrm>
            <a:off x="457200" y="3017520"/>
            <a:ext cx="8229600" cy="15544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La Regresión Logística detecta 18 de 22 pero molestaria a 162 clientes legítimos</a:t>
            </a:r>
            <a:endParaRPr lang="en-US" sz="1600" dirty="0"/>
          </a:p>
          <a:p>
            <a:pPr marL="342900" indent="-342900">
              <a:spcAft>
                <a:spcPts val="600"/>
              </a:spcAft>
              <a:buSzPct val="100000"/>
              <a:buChar char="•"/>
            </a:pPr>
            <a:r>
              <a:rPr lang="en-US" sz="1600" dirty="0">
                <a:solidFill>
                  <a:schemeClr val="tx1"/>
                </a:solidFill>
              </a:rPr>
              <a:t>El Random Forest detecta 16 de 22 y todas sus alertas son fraude real</a:t>
            </a:r>
            <a:endParaRPr lang="en-US" sz="1600" dirty="0"/>
          </a:p>
          <a:p>
            <a:pPr marL="342900" indent="-342900">
              <a:spcAft>
                <a:spcPts val="600"/>
              </a:spcAft>
              <a:buSzPct val="100000"/>
              <a:buChar char="•"/>
            </a:pPr>
            <a:r>
              <a:rPr lang="en-US" sz="1600" dirty="0">
                <a:solidFill>
                  <a:schemeClr val="tx1"/>
                </a:solidFill>
              </a:rPr>
              <a:t>Elegí el Random Forest por ser el mejor equilibrio</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2"/>
                </a:solidFill>
              </a:rPr>
              <a:t>Clusters y variables más importantes</a:t>
            </a:r>
            <a:endParaRPr lang="en-US" sz="2800" dirty="0"/>
          </a:p>
        </p:txBody>
      </p:sp>
      <p:pic>
        <p:nvPicPr>
          <p:cNvPr id="3" name="pca_clusters.png" descr="v05/figuras/pca_clusters.png">    </p:cNvPr>
          <p:cNvPicPr>
            <a:picLocks noChangeAspect="1"/>
          </p:cNvPicPr>
          <p:nvPr/>
        </p:nvPicPr>
        <p:blipFill>
          <a:blip r:embed="rId1"/>
          <a:stretch>
            <a:fillRect/>
          </a:stretch>
        </p:blipFill>
        <p:spPr>
          <a:xfrm>
            <a:off x="365760" y="1097280"/>
            <a:ext cx="5120640" cy="2234634"/>
          </a:xfrm>
          <a:prstGeom prst="rect">
            <a:avLst/>
          </a:prstGeom>
        </p:spPr>
      </p:pic>
      <p:pic>
        <p:nvPicPr>
          <p:cNvPr id="4" name="importancia_rf.png" descr="v05/figuras/importancia_rf.png">    </p:cNvPr>
          <p:cNvPicPr>
            <a:picLocks noChangeAspect="1"/>
          </p:cNvPicPr>
          <p:nvPr/>
        </p:nvPicPr>
        <p:blipFill>
          <a:blip r:embed="rId2"/>
          <a:stretch>
            <a:fillRect/>
          </a:stretch>
        </p:blipFill>
        <p:spPr>
          <a:xfrm>
            <a:off x="5577840" y="1097280"/>
            <a:ext cx="3200400" cy="1825195"/>
          </a:xfrm>
          <a:prstGeom prst="rect">
            <a:avLst/>
          </a:prstGeom>
        </p:spPr>
      </p:pic>
      <p:sp>
        <p:nvSpPr>
          <p:cNvPr id="5" name="Text 1"/>
          <p:cNvSpPr txBox="1"/>
          <p:nvPr/>
        </p:nvSpPr>
        <p:spPr>
          <a:xfrm>
            <a:off x="457200" y="4343400"/>
            <a:ext cx="8229600" cy="457200"/>
          </a:xfrm>
          <a:prstGeom prst="rect">
            <a:avLst/>
          </a:prstGeom>
          <a:noFill/>
          <a:ln/>
        </p:spPr>
        <p:txBody>
          <a:bodyPr wrap="square" lIns="0" tIns="0" rIns="0" bIns="0" rtlCol="0" anchor="t"/>
          <a:lstStyle/>
          <a:p>
            <a:pPr indent="0" marL="0">
              <a:buNone/>
            </a:pPr>
            <a:r>
              <a:rPr lang="en-US" sz="1300" dirty="0">
                <a:solidFill>
                  <a:schemeClr val="tx1"/>
                </a:solidFill>
              </a:rPr>
              <a:t>Los fraudes se concentran en una zona del espacio PCA. Las variables que más pesan son monto_log, hora_dia y es_noche.</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2"/>
                </a:solidFill>
              </a:rPr>
              <a:t>Cómo usarlo en el banco</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743200"/>
                <a:gridCol w="2743200"/>
                <a:gridCol w="2743200"/>
              </a:tblGrid>
              <a:tr h="384048">
                <a:tc>
                  <a:txBody>
                    <a:bodyPr/>
                    <a:lstStyle/>
                    <a:p>
                      <a:pPr indent="0" marL="0">
                        <a:buNone/>
                      </a:pPr>
                      <a:r>
                        <a:rPr lang="en-US" sz="1500" b="1" dirty="0">
                          <a:solidFill>
                            <a:srgbClr val="222222"/>
                          </a:solidFill>
                          <a:latin typeface="Calibri" pitchFamily="34" charset="0"/>
                          <a:ea typeface="Calibri" pitchFamily="34" charset="-122"/>
                          <a:cs typeface="Calibri" pitchFamily="34" charset="-120"/>
                        </a:rPr>
                        <a:t>Nivel de riesgo</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solidFill>
                      <a:srgbClr val="D9E2F3"/>
                    </a:solidFill>
                  </a:tcPr>
                </a:tc>
                <a:tc>
                  <a:txBody>
                    <a:bodyPr/>
                    <a:lstStyle/>
                    <a:p>
                      <a:pPr indent="0" marL="0">
                        <a:buNone/>
                      </a:pPr>
                      <a:r>
                        <a:rPr lang="en-US" sz="1500" b="1" dirty="0">
                          <a:solidFill>
                            <a:srgbClr val="222222"/>
                          </a:solidFill>
                          <a:latin typeface="Calibri" pitchFamily="34" charset="0"/>
                          <a:ea typeface="Calibri" pitchFamily="34" charset="-122"/>
                          <a:cs typeface="Calibri" pitchFamily="34" charset="-120"/>
                        </a:rPr>
                        <a:t>Qué hacer</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solidFill>
                      <a:srgbClr val="D9E2F3"/>
                    </a:solidFill>
                  </a:tcPr>
                </a:tc>
                <a:tc>
                  <a:txBody>
                    <a:bodyPr/>
                    <a:lstStyle/>
                    <a:p>
                      <a:pPr indent="0" marL="0">
                        <a:buNone/>
                      </a:pPr>
                      <a:r>
                        <a:rPr lang="en-US" sz="1500" b="1" dirty="0">
                          <a:solidFill>
                            <a:srgbClr val="222222"/>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solidFill>
                      <a:srgbClr val="D9E2F3"/>
                    </a:solidFill>
                  </a:tcPr>
                </a:tc>
              </a:tr>
              <a:tr h="384048">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Bajo (menor a 0.3)</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tcPr>
                </a:tc>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Aprobar sin molestar</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tcPr>
                </a:tc>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981 transacciones</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tcPr>
                </a:tc>
              </a:tr>
              <a:tr h="384048">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Medio (0.3 a 0.5)</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tcPr>
                </a:tc>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Pedir código OTP</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tcPr>
                </a:tc>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3 (2 eran fraude)</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tcPr>
                </a:tc>
              </a:tr>
              <a:tr h="384048">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Alto (0.5 o más)</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tcPr>
                </a:tc>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Bloquear y llamar</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tcPr>
                </a:tc>
                <a:tc>
                  <a:txBody>
                    <a:bodyPr/>
                    <a:lstStyle/>
                    <a:p>
                      <a:pPr indent="0" marL="0">
                        <a:buNone/>
                      </a:pPr>
                      <a:r>
                        <a:rPr lang="en-US" sz="1500" dirty="0">
                          <a:solidFill>
                            <a:srgbClr val="222222"/>
                          </a:solidFill>
                          <a:latin typeface="Calibri" pitchFamily="34" charset="0"/>
                          <a:ea typeface="Calibri" pitchFamily="34" charset="-122"/>
                          <a:cs typeface="Calibri" pitchFamily="34" charset="-120"/>
                        </a:rPr>
                        <a:t>16 (las 16 eran fraude)</a:t>
                      </a:r>
                      <a:endParaRPr lang="en-US" sz="1500" dirty="0">
                        <a:latin typeface="Calibri" charset="0"/>
                        <a:ea typeface="Calibri" charset="0"/>
                        <a:cs typeface="Calibri" charset="0"/>
                      </a:endParaRPr>
                    </a:p>
                  </a:txBody>
                  <a:tcPr marL="91440" marR="91440" marT="45720" marB="45720">
                    <a:lnL w="6350" cap="flat" cmpd="sng" algn="ctr">
                      <a:solidFill>
                        <a:srgbClr val="999999"/>
                      </a:solidFill>
                      <a:prstDash val="solid"/>
                      <a:round/>
                      <a:headEnd type="none" w="med" len="med"/>
                      <a:tailEnd type="none" w="med" len="med"/>
                    </a:lnL>
                    <a:lnR w="6350" cap="flat" cmpd="sng" algn="ctr">
                      <a:solidFill>
                        <a:srgbClr val="999999"/>
                      </a:solidFill>
                      <a:prstDash val="solid"/>
                      <a:round/>
                      <a:headEnd type="none" w="med" len="med"/>
                      <a:tailEnd type="none" w="med" len="med"/>
                    </a:lnR>
                    <a:lnT w="6350" cap="flat" cmpd="sng" algn="ctr">
                      <a:solidFill>
                        <a:srgbClr val="999999"/>
                      </a:solidFill>
                      <a:prstDash val="solid"/>
                      <a:round/>
                      <a:headEnd type="none" w="med" len="med"/>
                      <a:tailEnd type="none" w="med" len="med"/>
                    </a:lnT>
                    <a:lnB w="6350" cap="flat" cmpd="sng" algn="ctr">
                      <a:solidFill>
                        <a:srgbClr val="999999"/>
                      </a:solidFill>
                      <a:prstDash val="solid"/>
                      <a:round/>
                      <a:headEnd type="none" w="med" len="med"/>
                      <a:tailEnd type="none" w="med" len="med"/>
                    </a:lnB>
                  </a:tcPr>
                </a:tc>
              </a:tr>
            </a:tbl>
          </a:graphicData>
        </a:graphic>
      </p:graphicFrame>
      <p:sp>
        <p:nvSpPr>
          <p:cNvPr id="4" name="Text 1"/>
          <p:cNvSpPr txBox="1"/>
          <p:nvPr/>
        </p:nvSpPr>
        <p:spPr>
          <a:xfrm>
            <a:off x="457200" y="3017520"/>
            <a:ext cx="8229600" cy="15544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Con umbral 0.3: 18 de 22 fraudes y solo 1 cliente molestado</a:t>
            </a:r>
            <a:endParaRPr lang="en-US" sz="1600" dirty="0"/>
          </a:p>
          <a:p>
            <a:pPr marL="342900" indent="-342900">
              <a:spcAft>
                <a:spcPts val="600"/>
              </a:spcAft>
              <a:buSzPct val="100000"/>
              <a:buChar char="•"/>
            </a:pPr>
            <a:r>
              <a:rPr lang="en-US" sz="1600" dirty="0">
                <a:solidFill>
                  <a:schemeClr val="tx1"/>
                </a:solidFill>
              </a:rPr>
              <a:t>Mientras tanto: verificación extra para montos altos de noche</a:t>
            </a:r>
            <a:endParaRPr lang="en-US" sz="1600" dirty="0"/>
          </a:p>
          <a:p>
            <a:pPr marL="342900" indent="-342900">
              <a:spcAft>
                <a:spcPts val="600"/>
              </a:spcAft>
              <a:buSzPct val="100000"/>
              <a:buChar char="•"/>
            </a:pPr>
            <a:r>
              <a:rPr lang="en-US" sz="1600" dirty="0">
                <a:solidFill>
                  <a:schemeClr val="tx1"/>
                </a:solidFill>
              </a:rPr>
              <a:t>DBSCAN como alerta extra cada mes</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2"/>
                </a:solidFill>
              </a:rPr>
              <a:t>Limitaciones y próximos pasos</a:t>
            </a:r>
            <a:endParaRPr lang="en-US" sz="2800" dirty="0"/>
          </a:p>
        </p:txBody>
      </p:sp>
      <p:sp>
        <p:nvSpPr>
          <p:cNvPr id="3" name="Text 1"/>
          <p:cNvSpPr txBox="1"/>
          <p:nvPr/>
        </p:nvSpPr>
        <p:spPr>
          <a:xfrm>
            <a:off x="457200" y="1097280"/>
            <a:ext cx="3931920" cy="365760"/>
          </a:xfrm>
          <a:prstGeom prst="rect">
            <a:avLst/>
          </a:prstGeom>
          <a:noFill/>
          <a:ln/>
        </p:spPr>
        <p:txBody>
          <a:bodyPr wrap="square" lIns="0" tIns="0" rIns="0" bIns="0" rtlCol="0" anchor="t"/>
          <a:lstStyle/>
          <a:p>
            <a:pPr indent="0" marL="0">
              <a:buNone/>
            </a:pPr>
            <a:r>
              <a:rPr lang="en-US" sz="1800" b="1" dirty="0">
                <a:solidFill>
                  <a:schemeClr val="tx2"/>
                </a:solidFill>
              </a:rPr>
              <a:t>Limitaciones</a:t>
            </a:r>
            <a:endParaRPr lang="en-US" sz="1800" dirty="0"/>
          </a:p>
        </p:txBody>
      </p:sp>
      <p:sp>
        <p:nvSpPr>
          <p:cNvPr id="4" name="Text 2"/>
          <p:cNvSpPr txBox="1"/>
          <p:nvPr/>
        </p:nvSpPr>
        <p:spPr>
          <a:xfrm>
            <a:off x="457200" y="1554480"/>
            <a:ext cx="393192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Datos sintéticos</a:t>
            </a:r>
            <a:endParaRPr lang="en-US" sz="1600" dirty="0"/>
          </a:p>
          <a:p>
            <a:pPr marL="342900" indent="-342900">
              <a:spcAft>
                <a:spcPts val="800"/>
              </a:spcAft>
              <a:buSzPct val="100000"/>
              <a:buChar char="•"/>
            </a:pPr>
            <a:r>
              <a:rPr lang="en-US" sz="1600" dirty="0">
                <a:solidFill>
                  <a:schemeClr val="tx1"/>
                </a:solidFill>
              </a:rPr>
              <a:t>Solo 22 fraudes en test, las métricas pueden variar</a:t>
            </a:r>
            <a:endParaRPr lang="en-US" sz="1600" dirty="0"/>
          </a:p>
          <a:p>
            <a:pPr marL="342900" indent="-342900">
              <a:spcAft>
                <a:spcPts val="800"/>
              </a:spcAft>
              <a:buSzPct val="100000"/>
              <a:buChar char="•"/>
            </a:pPr>
            <a:r>
              <a:rPr lang="en-US" sz="1600" dirty="0">
                <a:solidFill>
                  <a:schemeClr val="tx1"/>
                </a:solidFill>
              </a:rPr>
              <a:t>4 fraudes no siguen ningún patrón</a:t>
            </a:r>
            <a:endParaRPr lang="en-US" sz="1600" dirty="0"/>
          </a:p>
        </p:txBody>
      </p:sp>
      <p:sp>
        <p:nvSpPr>
          <p:cNvPr id="5" name="Text 3"/>
          <p:cNvSpPr txBox="1"/>
          <p:nvPr/>
        </p:nvSpPr>
        <p:spPr>
          <a:xfrm>
            <a:off x="4754880" y="1097280"/>
            <a:ext cx="3931920" cy="365760"/>
          </a:xfrm>
          <a:prstGeom prst="rect">
            <a:avLst/>
          </a:prstGeom>
          <a:noFill/>
          <a:ln/>
        </p:spPr>
        <p:txBody>
          <a:bodyPr wrap="square" lIns="0" tIns="0" rIns="0" bIns="0" rtlCol="0" anchor="t"/>
          <a:lstStyle/>
          <a:p>
            <a:pPr indent="0" marL="0">
              <a:buNone/>
            </a:pPr>
            <a:r>
              <a:rPr lang="en-US" sz="1800" b="1" dirty="0">
                <a:solidFill>
                  <a:schemeClr val="tx2"/>
                </a:solidFill>
              </a:rPr>
              <a:t>Próximos pasos</a:t>
            </a:r>
            <a:endParaRPr lang="en-US" sz="1800" dirty="0"/>
          </a:p>
        </p:txBody>
      </p:sp>
      <p:sp>
        <p:nvSpPr>
          <p:cNvPr id="6" name="Text 4"/>
          <p:cNvSpPr txBox="1"/>
          <p:nvPr/>
        </p:nvSpPr>
        <p:spPr>
          <a:xfrm>
            <a:off x="4754880" y="1554480"/>
            <a:ext cx="393192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Variables con el historial del cliente</a:t>
            </a:r>
            <a:endParaRPr lang="en-US" sz="1600" dirty="0"/>
          </a:p>
          <a:p>
            <a:pPr marL="342900" indent="-342900">
              <a:spcAft>
                <a:spcPts val="800"/>
              </a:spcAft>
              <a:buSzPct val="100000"/>
              <a:buChar char="•"/>
            </a:pPr>
            <a:r>
              <a:rPr lang="en-US" sz="1600" dirty="0">
                <a:solidFill>
                  <a:schemeClr val="tx1"/>
                </a:solidFill>
              </a:rPr>
              <a:t>Validación cruzada</a:t>
            </a:r>
            <a:endParaRPr lang="en-US" sz="1600" dirty="0"/>
          </a:p>
          <a:p>
            <a:pPr marL="342900" indent="-342900">
              <a:spcAft>
                <a:spcPts val="800"/>
              </a:spcAft>
              <a:buSzPct val="100000"/>
              <a:buChar char="•"/>
            </a:pPr>
            <a:r>
              <a:rPr lang="en-US" sz="1600" dirty="0">
                <a:solidFill>
                  <a:schemeClr val="tx1"/>
                </a:solidFill>
              </a:rPr>
              <a:t>Calcular costos para elegir el umbral</a:t>
            </a:r>
            <a:endParaRPr lang="en-US" sz="1600" dirty="0"/>
          </a:p>
          <a:p>
            <a:pPr marL="342900" indent="-342900">
              <a:spcAft>
                <a:spcPts val="800"/>
              </a:spcAft>
              <a:buSzPct val="100000"/>
              <a:buChar char="•"/>
            </a:pPr>
            <a:r>
              <a:rPr lang="en-US" sz="1600" dirty="0">
                <a:solidFill>
                  <a:schemeClr val="tx1"/>
                </a:solidFill>
              </a:rPr>
              <a:t>Prueba piloto antes de usarlo</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nchor="b"/>
          <a:lstStyle/>
          <a:p>
            <a:pPr indent="0" marL="0">
              <a:buNone/>
            </a:pPr>
            <a:r>
              <a:rPr lang="en-US" sz="3600" b="1" dirty="0">
                <a:solidFill>
                  <a:schemeClr val="bg1"/>
                </a:solidFill>
              </a:rPr>
              <a:t>Conclusión</a:t>
            </a:r>
            <a:endParaRPr lang="en-US" sz="3600" dirty="0"/>
          </a:p>
        </p:txBody>
      </p:sp>
      <p:sp>
        <p:nvSpPr>
          <p:cNvPr id="3" name="Text 1"/>
          <p:cNvSpPr txBox="1"/>
          <p:nvPr/>
        </p:nvSpPr>
        <p:spPr>
          <a:xfrm>
            <a:off x="548640" y="2926080"/>
            <a:ext cx="8046720" cy="14630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bg1"/>
                </a:solidFill>
              </a:rPr>
              <a:t>El fraude depende de cuánto y cuándo: monto alto de noche</a:t>
            </a:r>
            <a:endParaRPr lang="en-US" sz="1600" dirty="0"/>
          </a:p>
          <a:p>
            <a:pPr marL="342900" indent="-342900">
              <a:spcAft>
                <a:spcPts val="600"/>
              </a:spcAft>
              <a:buSzPct val="100000"/>
              <a:buChar char="•"/>
            </a:pPr>
            <a:r>
              <a:rPr lang="en-US" sz="1600" dirty="0">
                <a:solidFill>
                  <a:schemeClr val="bg1"/>
                </a:solidFill>
              </a:rPr>
              <a:t>El Random Forest detecta los fraudes sin molestar a casi ningún cliente</a:t>
            </a:r>
            <a:endParaRPr lang="en-US" sz="1600" dirty="0"/>
          </a:p>
          <a:p>
            <a:pPr marL="342900" indent="-342900">
              <a:spcAft>
                <a:spcPts val="600"/>
              </a:spcAft>
              <a:buSzPct val="100000"/>
              <a:buChar char="•"/>
            </a:pPr>
            <a:r>
              <a:rPr lang="en-US" sz="1600" dirty="0">
                <a:solidFill>
                  <a:schemeClr val="bg1"/>
                </a:solidFill>
              </a:rPr>
              <a:t>Con 3 niveles de riesgo la mayoría de clientes no siente ninguna molestia</a:t>
            </a:r>
            <a:endParaRPr lang="en-US" sz="1600" dirty="0"/>
          </a:p>
        </p:txBody>
      </p:sp>
      <p:sp>
        <p:nvSpPr>
          <p:cNvPr id="4" name="Text 2"/>
          <p:cNvSpPr txBox="1"/>
          <p:nvPr/>
        </p:nvSpPr>
        <p:spPr>
          <a:xfrm>
            <a:off x="548640" y="4480560"/>
            <a:ext cx="8046720" cy="365760"/>
          </a:xfrm>
          <a:prstGeom prst="rect">
            <a:avLst/>
          </a:prstGeom>
          <a:noFill/>
          <a:ln/>
        </p:spPr>
        <p:txBody>
          <a:bodyPr wrap="square" lIns="0" tIns="0" rIns="0" bIns="0" rtlCol="0" anchor="t"/>
          <a:lstStyle/>
          <a:p>
            <a:pPr indent="0" marL="0">
              <a:buNone/>
            </a:pPr>
            <a:r>
              <a:rPr lang="en-US" sz="1400" i="1" dirty="0">
                <a:solidFill>
                  <a:schemeClr val="accent5"/>
                </a:solidFill>
              </a:rPr>
              <a:t>Gracias, ¿preguntas?</a:t>
            </a:r>
            <a:endParaRPr lang="en-US" sz="1400" dirty="0"/>
          </a:p>
        </p:txBody>
      </p:sp>
    </p:spTree>
  </p:cSld>
  <p:clrMapOvr>
    <a:masterClrMapping/>
  </p:clrMapOvr>
</p:sld>
</file>

<file path=ppt/theme/theme1.xml><?xml version="1.0" encoding="utf-8"?>
<a:theme xmlns:a="http://schemas.openxmlformats.org/drawingml/2006/main" name="Simple">
  <a:themeElements>
    <a:clrScheme name="Simple">
      <a:dk1>
        <a:srgbClr val="222222"/>
      </a:dk1>
      <a:lt1>
        <a:srgbClr val="FFFFFF"/>
      </a:lt1>
      <a:dk2>
        <a:srgbClr val="1F3864"/>
      </a:dk2>
      <a:lt2>
        <a:srgbClr val="F2F2F2"/>
      </a:lt2>
      <a:accent1>
        <a:srgbClr val="1F3864"/>
      </a:accent1>
      <a:accent2>
        <a:srgbClr val="C55A11"/>
      </a:accent2>
      <a:accent3>
        <a:srgbClr val="2E75B6"/>
      </a:accent3>
      <a:accent4>
        <a:srgbClr val="548235"/>
      </a:accent4>
      <a:accent5>
        <a:srgbClr val="BDD7EE"/>
      </a:accent5>
      <a:accent6>
        <a:srgbClr val="595959"/>
      </a:accent6>
      <a:hlink>
        <a:srgbClr val="2E75B6"/>
      </a:hlink>
      <a:folHlink>
        <a:srgbClr val="7030A0"/>
      </a:folHlink>
    </a:clrScheme>
    <a:fontScheme name="Simpl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Detección de fraude bancario con KDD</dc:title>
  <dc:subject>PptxGenJS Presentation</dc:subject>
  <dc:creator>PptxGenJS</dc:creator>
  <cp:lastModifiedBy>PptxGenJS</cp:lastModifiedBy>
  <cp:revision>1</cp:revision>
  <dcterms:created xsi:type="dcterms:W3CDTF">2026-10-29T03:35:22Z</dcterms:created>
  <dcterms:modified xsi:type="dcterms:W3CDTF">2026-10-29T03:35:22Z</dcterms:modified>
</cp:coreProperties>
</file>