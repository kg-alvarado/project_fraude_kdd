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notesMasters/notesMaster1.xml" ContentType="application/vnd.openxmlformats-officedocument.presentationml.notesMaster+xml"/>
  <Override PartName="/ppt/presentation.xml" ContentType="application/vnd.openxmlformats-officedocument.presentationml.presentation.main+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docProps/core.xml" ContentType="application/vnd.openxmlformats-package.core-properties+xml"/>
  <Override PartName="/ppt/theme/theme1.xml" ContentType="application/vnd.openxmlformats-officedocument.them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53344294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57037574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75464746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24651986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8324799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46127967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548006" name="Slide Image Placeholder 1"/>
          <p:cNvSpPr>
            <a:spLocks noChangeAspect="1" noGrp="1" noRot="1"/>
          </p:cNvSpPr>
          <p:nvPr>
            <p:ph type="sldImg"/>
          </p:nvPr>
        </p:nvSpPr>
        <p:spPr bwMode="auto"/>
      </p:sp>
      <p:sp>
        <p:nvSpPr>
          <p:cNvPr id="1943800894" name="Notes Placeholder 2"/>
          <p:cNvSpPr>
            <a:spLocks noGrp="1"/>
          </p:cNvSpPr>
          <p:nvPr>
            <p:ph type="body" idx="1"/>
          </p:nvPr>
        </p:nvSpPr>
        <p:spPr bwMode="auto"/>
        <p:txBody>
          <a:bodyPr/>
          <a:lstStyle/>
          <a:p>
            <a:pPr>
              <a:defRPr/>
            </a:pPr>
            <a:r>
              <a:rPr lang="en-US"/>
              <a:t>Buenas, en este proyecto tome el rol de analista de prevención de fraude de un banco costarricense y use el modelo KDD sobre 5 000 transacciones para encontrar patrones de fraude y armar un modelo que el banco pueda usar.</a:t>
            </a:r>
            <a:endParaRPr lang="en-US"/>
          </a:p>
        </p:txBody>
      </p:sp>
      <p:sp>
        <p:nvSpPr>
          <p:cNvPr id="1408578528"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3561827" name="Slide Image Placeholder 1"/>
          <p:cNvSpPr>
            <a:spLocks noChangeAspect="1" noGrp="1" noRot="1"/>
          </p:cNvSpPr>
          <p:nvPr>
            <p:ph type="sldImg"/>
          </p:nvPr>
        </p:nvSpPr>
        <p:spPr bwMode="auto"/>
      </p:sp>
      <p:sp>
        <p:nvSpPr>
          <p:cNvPr id="2037670726" name="Notes Placeholder 2"/>
          <p:cNvSpPr>
            <a:spLocks noGrp="1"/>
          </p:cNvSpPr>
          <p:nvPr>
            <p:ph type="body" idx="1"/>
          </p:nvPr>
        </p:nvSpPr>
        <p:spPr bwMode="auto"/>
        <p:txBody>
          <a:bodyPr/>
          <a:lstStyle/>
          <a:p>
            <a:pPr>
              <a:defRPr/>
            </a:pPr>
            <a:r>
              <a:rPr lang="en-US"/>
              <a:t>El fraude tiene dos lados, si no lo detecto el banco pierde plata, y si soy muy estricto bloqueo clientes buenos. Por eso la pregunta no es solo detectar fraude sino hacerlo sin molestar al cliente legítimo.</a:t>
            </a:r>
            <a:endParaRPr lang="en-US"/>
          </a:p>
        </p:txBody>
      </p:sp>
      <p:sp>
        <p:nvSpPr>
          <p:cNvPr id="1475867811"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112863" name="Slide Image Placeholder 1"/>
          <p:cNvSpPr>
            <a:spLocks noChangeAspect="1" noGrp="1" noRot="1"/>
          </p:cNvSpPr>
          <p:nvPr>
            <p:ph type="sldImg"/>
          </p:nvPr>
        </p:nvSpPr>
        <p:spPr bwMode="auto"/>
      </p:sp>
      <p:sp>
        <p:nvSpPr>
          <p:cNvPr id="1239059198" name="Notes Placeholder 2"/>
          <p:cNvSpPr>
            <a:spLocks noGrp="1"/>
          </p:cNvSpPr>
          <p:nvPr>
            <p:ph type="body" idx="1"/>
          </p:nvPr>
        </p:nvSpPr>
        <p:spPr bwMode="auto"/>
        <p:txBody>
          <a:bodyPr/>
          <a:lstStyle/>
          <a:p>
            <a:pPr>
              <a:defRPr/>
            </a:pPr>
            <a:r>
              <a:rPr lang="en-US"/>
              <a:t>El dataset tiene 5 000 transacciones y solo 109 son fraude. Saque los identificadores porque son códigos, los 109 fraudes están en 107 clientes distintos así que el ID no ayuda. El estado de la transacción lo saque porque se sabe después, cuando el modelo ya tuvo que decidir. Por el desbalance un modelo que diga siempre legítima acierta 97.8% sin detectar nada, por eso no use solo accuracy.</a:t>
            </a:r>
            <a:endParaRPr lang="en-US"/>
          </a:p>
        </p:txBody>
      </p:sp>
      <p:sp>
        <p:nvSpPr>
          <p:cNvPr id="148793161"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3151720" name="Slide Image Placeholder 1"/>
          <p:cNvSpPr>
            <a:spLocks noChangeAspect="1" noGrp="1" noRot="1"/>
          </p:cNvSpPr>
          <p:nvPr>
            <p:ph type="sldImg"/>
          </p:nvPr>
        </p:nvSpPr>
        <p:spPr bwMode="auto"/>
      </p:sp>
      <p:sp>
        <p:nvSpPr>
          <p:cNvPr id="2078278505" name="Notes Placeholder 2"/>
          <p:cNvSpPr>
            <a:spLocks noGrp="1"/>
          </p:cNvSpPr>
          <p:nvPr>
            <p:ph type="body" idx="1"/>
          </p:nvPr>
        </p:nvSpPr>
        <p:spPr bwMode="auto"/>
        <p:txBody>
          <a:bodyPr/>
          <a:lstStyle/>
          <a:p>
            <a:pPr>
              <a:defRPr/>
            </a:pPr>
            <a:r>
              <a:rPr lang="en-US"/>
              <a:t>Había pocos nulos, la edad la rellene con la mediana y canal y región con Desconocido para no inventar. La decisión más importante fue no borrar los outliers, porque ahí están los fraudes. El logaritmo baja el efecto de los montos gigantes sin borrarlos. Todo va en un Pipeline que se ajusta solo con train para que el modelo no vea el test.</a:t>
            </a:r>
            <a:endParaRPr lang="en-US"/>
          </a:p>
        </p:txBody>
      </p:sp>
      <p:sp>
        <p:nvSpPr>
          <p:cNvPr id="1145878093"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0546107" name="Slide Image Placeholder 1"/>
          <p:cNvSpPr>
            <a:spLocks noChangeAspect="1" noGrp="1" noRot="1"/>
          </p:cNvSpPr>
          <p:nvPr>
            <p:ph type="sldImg"/>
          </p:nvPr>
        </p:nvSpPr>
        <p:spPr bwMode="auto"/>
      </p:sp>
      <p:sp>
        <p:nvSpPr>
          <p:cNvPr id="17403911" name="Notes Placeholder 2"/>
          <p:cNvSpPr>
            <a:spLocks noGrp="1"/>
          </p:cNvSpPr>
          <p:nvPr>
            <p:ph type="body" idx="1"/>
          </p:nvPr>
        </p:nvSpPr>
        <p:spPr bwMode="auto"/>
        <p:txBody>
          <a:bodyPr/>
          <a:lstStyle/>
          <a:p>
            <a:pPr>
              <a:defRPr/>
            </a:pPr>
            <a:r>
              <a:rPr lang="en-US"/>
              <a:t>Primero explore sin usar la etiqueta de fraude, con K-Means, DBSCAN y PCA, para ver si los grupos solos mostraban el patrón. En K-Means la silueta más alta era k=2 pero solo separaba día y noche, k=5 coincide con el codo y separa un grupo de montos altos. Después use modelos supervisados, Regresión Logística como base y Random Forest porque capta combinaciones de variables, los dos con class_weight balanced por el desbalance.</a:t>
            </a:r>
            <a:endParaRPr lang="en-US"/>
          </a:p>
        </p:txBody>
      </p:sp>
      <p:sp>
        <p:nvSpPr>
          <p:cNvPr id="500896478"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5777322" name="Slide Image Placeholder 1"/>
          <p:cNvSpPr>
            <a:spLocks noChangeAspect="1" noGrp="1" noRot="1"/>
          </p:cNvSpPr>
          <p:nvPr>
            <p:ph type="sldImg"/>
          </p:nvPr>
        </p:nvSpPr>
        <p:spPr bwMode="auto"/>
      </p:sp>
      <p:sp>
        <p:nvSpPr>
          <p:cNvPr id="744964256" name="Notes Placeholder 2"/>
          <p:cNvSpPr>
            <a:spLocks noGrp="1"/>
          </p:cNvSpPr>
          <p:nvPr>
            <p:ph type="body" idx="1"/>
          </p:nvPr>
        </p:nvSpPr>
        <p:spPr bwMode="auto"/>
        <p:txBody>
          <a:bodyPr/>
          <a:lstStyle/>
          <a:p>
            <a:pPr>
              <a:defRPr/>
            </a:pPr>
            <a:r>
              <a:rPr lang="en-US"/>
              <a:t>Este es el hallazgo principal. El fraude se concentra de noche y en montos altos, en esa combinación aprox. 1 de cada 4 transacciones es fraude. Y no es solo una técnica, la tabla cruzada, K-Means, Apriori y el Random Forest dicen lo mismo.</a:t>
            </a:r>
            <a:endParaRPr lang="en-US"/>
          </a:p>
        </p:txBody>
      </p:sp>
      <p:sp>
        <p:nvSpPr>
          <p:cNvPr id="1881821581"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3130666" name="Slide Image Placeholder 1"/>
          <p:cNvSpPr>
            <a:spLocks noChangeAspect="1" noGrp="1" noRot="1"/>
          </p:cNvSpPr>
          <p:nvPr>
            <p:ph type="sldImg"/>
          </p:nvPr>
        </p:nvSpPr>
        <p:spPr bwMode="auto"/>
      </p:sp>
      <p:sp>
        <p:nvSpPr>
          <p:cNvPr id="2128285925" name="Notes Placeholder 2"/>
          <p:cNvSpPr>
            <a:spLocks noGrp="1"/>
          </p:cNvSpPr>
          <p:nvPr>
            <p:ph type="body" idx="1"/>
          </p:nvPr>
        </p:nvSpPr>
        <p:spPr bwMode="auto"/>
        <p:txBody>
          <a:bodyPr/>
          <a:lstStyle/>
          <a:p>
            <a:pPr>
              <a:defRPr/>
            </a:pPr>
            <a:r>
              <a:rPr lang="en-US"/>
              <a:t>La Regresión Logística atrapa más fraudes pero de 180 alertas solo 18 son fraude. El Random Forest atrapa 16 y no molesta a nadie. La Logística tiene el AUC más alto porque ordena bien en general, pero con el umbral normal lanza demasiadas alertas. Accuracy no la uso como métrica principal porque decir siempre legítima ya da 97.8%.</a:t>
            </a:r>
            <a:endParaRPr lang="en-US"/>
          </a:p>
        </p:txBody>
      </p:sp>
      <p:sp>
        <p:nvSpPr>
          <p:cNvPr id="898484363"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9100896" name="Slide Image Placeholder 1"/>
          <p:cNvSpPr>
            <a:spLocks noChangeAspect="1" noGrp="1" noRot="1"/>
          </p:cNvSpPr>
          <p:nvPr>
            <p:ph type="sldImg"/>
          </p:nvPr>
        </p:nvSpPr>
        <p:spPr bwMode="auto"/>
      </p:sp>
      <p:sp>
        <p:nvSpPr>
          <p:cNvPr id="1412355226" name="Notes Placeholder 2"/>
          <p:cNvSpPr>
            <a:spLocks noGrp="1"/>
          </p:cNvSpPr>
          <p:nvPr>
            <p:ph type="body" idx="1"/>
          </p:nvPr>
        </p:nvSpPr>
        <p:spPr bwMode="auto"/>
        <p:txBody>
          <a:bodyPr/>
          <a:lstStyle/>
          <a:p>
            <a:pPr>
              <a:defRPr/>
            </a:pPr>
            <a:r>
              <a:rPr lang="en-US"/>
              <a:t>A la izquierda los clusters de K-Means en el espacio PCA y a la derecha el mismo espacio coloreado por fraude, los fraudes no están al azar. En el Random Forest el monto es por mucho la variable más importante, seguido del horario. Canal, región y tipo casi no influyen.</a:t>
            </a:r>
            <a:endParaRPr lang="en-US"/>
          </a:p>
        </p:txBody>
      </p:sp>
      <p:sp>
        <p:nvSpPr>
          <p:cNvPr id="1219137206"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6590811" name="Slide Image Placeholder 1"/>
          <p:cNvSpPr>
            <a:spLocks noChangeAspect="1" noGrp="1" noRot="1"/>
          </p:cNvSpPr>
          <p:nvPr>
            <p:ph type="sldImg"/>
          </p:nvPr>
        </p:nvSpPr>
        <p:spPr bwMode="auto"/>
      </p:sp>
      <p:sp>
        <p:nvSpPr>
          <p:cNvPr id="865131525" name="Notes Placeholder 2"/>
          <p:cNvSpPr>
            <a:spLocks noGrp="1"/>
          </p:cNvSpPr>
          <p:nvPr>
            <p:ph type="body" idx="1"/>
          </p:nvPr>
        </p:nvSpPr>
        <p:spPr bwMode="auto"/>
        <p:txBody>
          <a:bodyPr/>
          <a:lstStyle/>
          <a:p>
            <a:pPr>
              <a:defRPr/>
            </a:pPr>
            <a:r>
              <a:rPr lang="en-US"/>
              <a:t>El modelo da una probabilidad y propongo 3 niveles. Casi todos se aprueban sin molestar, unos pocos piden un OTP y solo los de riesgo alto se bloquean, y en el test todos esos eran fraude. Mientras se implementa, una regla simple de verificación para montos altos de noche ya cubre el patrón principal.</a:t>
            </a:r>
            <a:endParaRPr lang="en-US"/>
          </a:p>
        </p:txBody>
      </p:sp>
      <p:sp>
        <p:nvSpPr>
          <p:cNvPr id="511865505"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6870135" name="Slide Image Placeholder 1"/>
          <p:cNvSpPr>
            <a:spLocks noChangeAspect="1" noGrp="1" noRot="1"/>
          </p:cNvSpPr>
          <p:nvPr>
            <p:ph type="sldImg"/>
          </p:nvPr>
        </p:nvSpPr>
        <p:spPr bwMode="auto"/>
      </p:sp>
      <p:sp>
        <p:nvSpPr>
          <p:cNvPr id="869166304" name="Notes Placeholder 2"/>
          <p:cNvSpPr>
            <a:spLocks noGrp="1"/>
          </p:cNvSpPr>
          <p:nvPr>
            <p:ph type="body" idx="1"/>
          </p:nvPr>
        </p:nvSpPr>
        <p:spPr bwMode="auto"/>
        <p:txBody>
          <a:bodyPr/>
          <a:lstStyle/>
          <a:p>
            <a:pPr>
              <a:defRPr/>
            </a:pPr>
            <a:r>
              <a:rPr lang="en-US"/>
              <a:t>Los datos son sintéticos y hay pocos fraudes en el test, entonces un fraude más o menos cambia mucho el recall. Hay 4 fraudes que no siguen el patrón y para atraparlos haría falta el historial del cliente, como cuánto gasta normalmente.</a:t>
            </a:r>
            <a:endParaRPr lang="en-US"/>
          </a:p>
        </p:txBody>
      </p:sp>
      <p:sp>
        <p:nvSpPr>
          <p:cNvPr id="1678754761"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7296797" name="Slide Image Placeholder 1"/>
          <p:cNvSpPr>
            <a:spLocks noChangeAspect="1" noGrp="1" noRot="1"/>
          </p:cNvSpPr>
          <p:nvPr>
            <p:ph type="sldImg"/>
          </p:nvPr>
        </p:nvSpPr>
        <p:spPr bwMode="auto"/>
      </p:sp>
      <p:sp>
        <p:nvSpPr>
          <p:cNvPr id="1745697867" name="Notes Placeholder 2"/>
          <p:cNvSpPr>
            <a:spLocks noGrp="1"/>
          </p:cNvSpPr>
          <p:nvPr>
            <p:ph type="body" idx="1"/>
          </p:nvPr>
        </p:nvSpPr>
        <p:spPr bwMode="auto"/>
        <p:txBody>
          <a:bodyPr/>
          <a:lstStyle/>
          <a:p>
            <a:pPr>
              <a:defRPr/>
            </a:pPr>
            <a:r>
              <a:rPr lang="en-US"/>
              <a:t>Respondiendo la pregunta, el fraude se distingue por cuánto y cuándo, monto alto de noche, no por quién ni por qué canal. Y el banco lo puede usar con el Random Forest en 3 niveles para atrapar los fraudes sin molestar a los clientes buenos. Muchas gracias.</a:t>
            </a:r>
            <a:endParaRPr lang="en-US"/>
          </a:p>
        </p:txBody>
      </p:sp>
      <p:sp>
        <p:nvSpPr>
          <p:cNvPr id="1531485094"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ortada">
    <p:bg>
      <p:bgPr shadeToTitle="0">
        <a:solidFill>
          <a:srgbClr val="1F3864"/>
        </a:solidFill>
      </p:bgPr>
    </p:bg>
    <p:spTree>
      <p:nvGrpSpPr>
        <p:cNvPr id="1" name=""/>
        <p:cNvGrpSpPr/>
        <p:nvPr/>
      </p:nvGrpSpPr>
      <p:grpSpPr bwMode="auto">
        <a:xfrm>
          <a:off x="0" y="0"/>
          <a:ext cx="0" cy="0"/>
          <a:chOff x="0" y="0"/>
          <a:chExt cx="0" cy="0"/>
        </a:xfrm>
      </p:grpSpPr>
      <p:sp>
        <p:nvSpPr>
          <p:cNvPr id="1996686985" name="Text 0"/>
          <p:cNvSpPr/>
          <p:nvPr>
            <p:ph type="title" idx="100" hasCustomPrompt="1"/>
          </p:nvPr>
        </p:nvSpPr>
        <p:spPr bwMode="auto">
          <a:xfrm>
            <a:off x="548640" y="1463040"/>
            <a:ext cx="8046720" cy="1280160"/>
          </a:xfrm>
          <a:prstGeom prst="rect">
            <a:avLst/>
          </a:prstGeom>
          <a:noFill/>
          <a:ln/>
        </p:spPr>
        <p:txBody>
          <a:bodyPr wrap="square" rtlCol="0"/>
          <a:lstStyle>
            <a:lvl1pPr marL="0" indent="0">
              <a:buNone/>
              <a:defRPr lang="en-US" sz="3600" b="1">
                <a:solidFill>
                  <a:schemeClr val="bg1"/>
                </a:solidFill>
              </a:defRPr>
            </a:lvl1pPr>
          </a:lstStyle>
          <a:p>
            <a:pPr marL="0" indent="0">
              <a:buNone/>
              <a:defRPr/>
            </a:pPr>
            <a:endParaRPr lang="en-US" sz="36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ido">
    <p:bg>
      <p:bgPr shadeToTitle="0">
        <a:solidFill>
          <a:srgbClr val="FFFFFF"/>
        </a:solidFill>
      </p:bgPr>
    </p:bg>
    <p:spTree>
      <p:nvGrpSpPr>
        <p:cNvPr id="1" name=""/>
        <p:cNvGrpSpPr/>
        <p:nvPr/>
      </p:nvGrpSpPr>
      <p:grpSpPr bwMode="auto">
        <a:xfrm>
          <a:off x="0" y="0"/>
          <a:ext cx="0" cy="0"/>
          <a:chOff x="0" y="0"/>
          <a:chExt cx="0" cy="0"/>
        </a:xfrm>
      </p:grpSpPr>
      <p:sp>
        <p:nvSpPr>
          <p:cNvPr id="452713099" name="Text 0"/>
          <p:cNvSpPr/>
          <p:nvPr>
            <p:ph type="title" idx="100" hasCustomPrompt="1"/>
          </p:nvPr>
        </p:nvSpPr>
        <p:spPr bwMode="auto">
          <a:xfrm>
            <a:off x="457200" y="228600"/>
            <a:ext cx="8229600" cy="685800"/>
          </a:xfrm>
          <a:prstGeom prst="rect">
            <a:avLst/>
          </a:prstGeom>
          <a:noFill/>
          <a:ln/>
        </p:spPr>
        <p:txBody>
          <a:bodyPr wrap="square" rtlCol="0"/>
          <a:lstStyle>
            <a:lvl1pPr marL="0" indent="0">
              <a:buNone/>
              <a:defRPr lang="en-US" sz="2800" b="1">
                <a:solidFill>
                  <a:schemeClr val="tx2"/>
                </a:solidFill>
              </a:defRPr>
            </a:lvl1pPr>
          </a:lstStyle>
          <a:p>
            <a:pPr marL="0" indent="0">
              <a:buNone/>
              <a:defRPr/>
            </a:pPr>
            <a:endParaRPr lang="en-US" sz="2800"/>
          </a:p>
        </p:txBody>
      </p:sp>
      <p:sp>
        <p:nvSpPr>
          <p:cNvPr id="61468483"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1003</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
        <p:nvSpPr>
          <p:cNvPr id="1553664155"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sp>
        <p:nvSpPr>
          <p:cNvPr id="1812445804" name="Text 0"/>
          <p:cNvSpPr/>
          <p:nvPr>
            <p:ph type="title" idx="100" hasCustomPrompt="1"/>
          </p:nvPr>
        </p:nvSpPr>
        <p:spPr bwMode="auto">
          <a:xfrm>
            <a:off x="548640" y="1207659"/>
            <a:ext cx="8046720" cy="1280160"/>
          </a:xfrm>
          <a:prstGeom prst="rect">
            <a:avLst/>
          </a:prstGeom>
          <a:noFill/>
          <a:ln/>
        </p:spPr>
        <p:txBody>
          <a:bodyPr wrap="square" lIns="0" tIns="0" rIns="0" bIns="0" rtlCol="0" anchor="b"/>
          <a:lstStyle/>
          <a:p>
            <a:pPr marL="0" indent="0">
              <a:buNone/>
              <a:defRPr/>
            </a:pPr>
            <a:r>
              <a:rPr lang="en-US" sz="3600" b="1">
                <a:solidFill>
                  <a:schemeClr val="bg1"/>
                </a:solidFill>
              </a:rPr>
              <a:t>Deteccion de Fraude Bancario </a:t>
            </a:r>
            <a:endParaRPr lang="en-US" sz="3600"/>
          </a:p>
        </p:txBody>
      </p:sp>
      <p:sp>
        <p:nvSpPr>
          <p:cNvPr id="1112668248" name="Text 1"/>
          <p:cNvSpPr txBox="1"/>
          <p:nvPr/>
        </p:nvSpPr>
        <p:spPr bwMode="auto">
          <a:xfrm>
            <a:off x="548640" y="3017519"/>
            <a:ext cx="8046720" cy="731520"/>
          </a:xfrm>
          <a:prstGeom prst="rect">
            <a:avLst/>
          </a:prstGeom>
          <a:noFill/>
          <a:ln/>
        </p:spPr>
        <p:txBody>
          <a:bodyPr wrap="square" lIns="0" tIns="0" rIns="0" bIns="0" rtlCol="0" anchor="t"/>
          <a:lstStyle/>
          <a:p>
            <a:pPr marL="0" indent="0">
              <a:buNone/>
              <a:defRPr/>
            </a:pPr>
            <a:r>
              <a:rPr lang="en-US" sz="1400">
                <a:solidFill>
                  <a:schemeClr val="bg1"/>
                </a:solidFill>
              </a:rPr>
              <a:t>Proyecto Final SINF-633 EDA</a:t>
            </a:r>
            <a:endParaRPr lang="en-US" sz="1400"/>
          </a:p>
          <a:p>
            <a:pPr marL="0" indent="0">
              <a:buNone/>
              <a:defRPr/>
            </a:pPr>
            <a:r>
              <a:rPr lang="en-US" sz="1400">
                <a:solidFill>
                  <a:schemeClr val="bg1"/>
                </a:solidFill>
              </a:rPr>
              <a:t>Kristofer Gonzalez Alvarado </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448351650"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El problema</a:t>
            </a:r>
            <a:endParaRPr lang="en-US" sz="2800"/>
          </a:p>
        </p:txBody>
      </p:sp>
      <p:sp>
        <p:nvSpPr>
          <p:cNvPr id="1337840201" name="Text 1"/>
          <p:cNvSpPr txBox="1"/>
          <p:nvPr/>
        </p:nvSpPr>
        <p:spPr bwMode="auto">
          <a:xfrm>
            <a:off x="457200" y="1097280"/>
            <a:ext cx="8229600" cy="1645920"/>
          </a:xfrm>
          <a:prstGeom prst="rect">
            <a:avLst/>
          </a:prstGeom>
          <a:noFill/>
          <a:ln/>
        </p:spPr>
        <p:txBody>
          <a:bodyPr wrap="square" lIns="0" tIns="0" rIns="0" bIns="0" rtlCol="0" anchor="t"/>
          <a:lstStyle/>
          <a:p>
            <a:pPr marL="342900" indent="-342900">
              <a:spcAft>
                <a:spcPts val="800"/>
              </a:spcAft>
              <a:buSzPct val="100000"/>
              <a:buChar char="•"/>
              <a:defRPr/>
            </a:pPr>
            <a:r>
              <a:rPr lang="en-US" sz="1600">
                <a:solidFill>
                  <a:schemeClr val="tx1"/>
                </a:solidFill>
              </a:rPr>
              <a:t>Si no detectamos un fraude, el banco pierde dinero</a:t>
            </a:r>
            <a:r>
              <a:rPr lang="en-US" sz="1600"/>
              <a:t> y se podrian ver afectados por identidades</a:t>
            </a:r>
            <a:r>
              <a:rPr lang="es-CR" sz="1600"/>
              <a:t> de</a:t>
            </a:r>
            <a:r>
              <a:rPr lang="en-US" sz="1600"/>
              <a:t> auditoria. </a:t>
            </a:r>
            <a:endParaRPr lang="en-US" sz="1600"/>
          </a:p>
          <a:p>
            <a:pPr marL="342900" indent="-342900">
              <a:spcAft>
                <a:spcPts val="800"/>
              </a:spcAft>
              <a:buSzPct val="100000"/>
              <a:buChar char="•"/>
              <a:defRPr/>
            </a:pPr>
            <a:r>
              <a:rPr lang="en-US" sz="1600">
                <a:solidFill>
                  <a:schemeClr val="tx1"/>
                </a:solidFill>
              </a:rPr>
              <a:t>Si bloqueamos a un clientes no fraudulentos podemos vernos durante el riesgo de perder al cliente o influencia contra la competencia. </a:t>
            </a:r>
            <a:endParaRPr lang="en-US" sz="1600"/>
          </a:p>
          <a:p>
            <a:pPr marL="342900" indent="-342900">
              <a:spcAft>
                <a:spcPts val="800"/>
              </a:spcAft>
              <a:buSzPct val="100000"/>
              <a:buChar char="•"/>
              <a:defRPr/>
            </a:pPr>
            <a:r>
              <a:rPr lang="en-US" sz="1600">
                <a:solidFill>
                  <a:schemeClr val="tx1"/>
                </a:solidFill>
              </a:rPr>
              <a:t>Hay que encontrar un equilibrio entre los dos</a:t>
            </a:r>
            <a:endParaRPr lang="en-US" sz="1600"/>
          </a:p>
        </p:txBody>
      </p:sp>
      <p:sp>
        <p:nvSpPr>
          <p:cNvPr id="2056488015" name="Shape 2"/>
          <p:cNvSpPr/>
          <p:nvPr/>
        </p:nvSpPr>
        <p:spPr bwMode="auto">
          <a:xfrm>
            <a:off x="457200" y="3017519"/>
            <a:ext cx="8229600" cy="1371600"/>
          </a:xfrm>
          <a:prstGeom prst="rect">
            <a:avLst/>
          </a:prstGeom>
          <a:solidFill>
            <a:schemeClr val="bg2"/>
          </a:solidFill>
          <a:ln/>
        </p:spPr>
      </p:sp>
      <p:sp>
        <p:nvSpPr>
          <p:cNvPr id="1433399989" name="Text 3"/>
          <p:cNvSpPr txBox="1"/>
          <p:nvPr/>
        </p:nvSpPr>
        <p:spPr bwMode="auto">
          <a:xfrm>
            <a:off x="640080" y="3154680"/>
            <a:ext cx="7863840" cy="1097280"/>
          </a:xfrm>
          <a:prstGeom prst="rect">
            <a:avLst/>
          </a:prstGeom>
          <a:noFill/>
          <a:ln/>
        </p:spPr>
        <p:txBody>
          <a:bodyPr wrap="square" lIns="0" tIns="0" rIns="0" bIns="0" rtlCol="0" anchor="t"/>
          <a:lstStyle/>
          <a:p>
            <a:pPr marL="0" indent="0">
              <a:buNone/>
              <a:defRPr/>
            </a:pPr>
            <a:r>
              <a:rPr lang="en-US" sz="1600" b="1">
                <a:solidFill>
                  <a:schemeClr val="tx1"/>
                </a:solidFill>
              </a:rPr>
              <a:t>Pregunta central: </a:t>
            </a:r>
            <a:r>
              <a:rPr lang="en-US" sz="1600" i="0">
                <a:solidFill>
                  <a:schemeClr val="tx1"/>
                </a:solidFill>
              </a:rPr>
              <a:t>Que patrones permiten distinguir transacciones legítimas de fraudulentas, y como puede el banco usarlos para reducir perdidas sin molestar al cliente legitimo?</a:t>
            </a:r>
            <a:endParaRPr lang="en-US" sz="1600"/>
          </a:p>
        </p:txBody>
      </p:sp>
      <p:sp>
        <p:nvSpPr>
          <p:cNvPr id="861200599"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1939954482"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Datos y criterios de selección</a:t>
            </a:r>
            <a:endParaRPr lang="en-US" sz="2800"/>
          </a:p>
        </p:txBody>
      </p:sp>
      <p:sp>
        <p:nvSpPr>
          <p:cNvPr id="653101422" name="Text 1"/>
          <p:cNvSpPr txBox="1"/>
          <p:nvPr/>
        </p:nvSpPr>
        <p:spPr bwMode="auto">
          <a:xfrm>
            <a:off x="457200" y="1097280"/>
            <a:ext cx="4572000" cy="3566160"/>
          </a:xfrm>
          <a:prstGeom prst="rect">
            <a:avLst/>
          </a:prstGeom>
          <a:noFill/>
          <a:ln/>
        </p:spPr>
        <p:txBody>
          <a:bodyPr wrap="square" lIns="0" tIns="0" rIns="0" bIns="0" rtlCol="0" anchor="t"/>
          <a:lstStyle/>
          <a:p>
            <a:pPr marL="342900" indent="-342900">
              <a:spcAft>
                <a:spcPts val="800"/>
              </a:spcAft>
              <a:buSzPct val="100000"/>
              <a:buChar char="•"/>
              <a:defRPr/>
            </a:pPr>
            <a:r>
              <a:rPr lang="en-US" sz="1600">
                <a:solidFill>
                  <a:schemeClr val="tx1"/>
                </a:solidFill>
              </a:rPr>
              <a:t>5 000 transacciones del 2024 y 11 variables</a:t>
            </a:r>
            <a:endParaRPr lang="en-US" sz="1600"/>
          </a:p>
          <a:p>
            <a:pPr marL="342900" indent="-342900">
              <a:spcAft>
                <a:spcPts val="800"/>
              </a:spcAft>
              <a:buSzPct val="100000"/>
              <a:buChar char="•"/>
              <a:defRPr/>
            </a:pPr>
            <a:r>
              <a:rPr lang="en-US" sz="1600">
                <a:solidFill>
                  <a:schemeClr val="tx1"/>
                </a:solidFill>
              </a:rPr>
              <a:t>Solo 109 son fraude (2.18%), aprox. 45 legítimas por cada fraude</a:t>
            </a:r>
            <a:endParaRPr lang="en-US" sz="1600"/>
          </a:p>
          <a:p>
            <a:pPr marL="342900" indent="-342900">
              <a:spcAft>
                <a:spcPts val="800"/>
              </a:spcAft>
              <a:buSzPct val="100000"/>
              <a:buChar char="•"/>
              <a:defRPr/>
            </a:pPr>
            <a:r>
              <a:rPr lang="en-US" sz="1600">
                <a:solidFill>
                  <a:schemeClr val="tx1"/>
                </a:solidFill>
              </a:rPr>
              <a:t>Saque los IDs porque son códigos y no me funcionan para el entrenamiento del modelo, sino </a:t>
            </a:r>
            <a:r>
              <a:rPr lang="es-CR" sz="1600">
                <a:solidFill>
                  <a:schemeClr val="tx1"/>
                </a:solidFill>
              </a:rPr>
              <a:t>más bien generan ruido</a:t>
            </a:r>
            <a:endParaRPr lang="en-US" sz="1600"/>
          </a:p>
          <a:p>
            <a:pPr marL="342900" indent="-342900">
              <a:spcAft>
                <a:spcPts val="800"/>
              </a:spcAft>
              <a:buSzPct val="100000"/>
              <a:buChar char="•"/>
              <a:defRPr/>
            </a:pPr>
            <a:r>
              <a:rPr lang="en-US" sz="1600">
                <a:solidFill>
                  <a:schemeClr val="tx1"/>
                </a:solidFill>
              </a:rPr>
              <a:t>Saque estado_transaccion del modelo porque se conoce después de la transacción </a:t>
            </a:r>
            <a:r>
              <a:rPr lang="es-CR" sz="1600">
                <a:solidFill>
                  <a:schemeClr val="tx1"/>
                </a:solidFill>
              </a:rPr>
              <a:t>lo que podria provocar data leakage si el modelo usa esta data para aprender</a:t>
            </a:r>
            <a:endParaRPr lang="en-US" sz="1600"/>
          </a:p>
          <a:p>
            <a:pPr marL="342900" indent="-342900">
              <a:spcAft>
                <a:spcPts val="800"/>
              </a:spcAft>
              <a:buSzPct val="100000"/>
              <a:buChar char="•"/>
              <a:defRPr/>
            </a:pPr>
            <a:r>
              <a:rPr lang="en-US" sz="1600">
                <a:solidFill>
                  <a:schemeClr val="tx1"/>
                </a:solidFill>
              </a:rPr>
              <a:t>fecha_hora la use para sacar la hora y</a:t>
            </a:r>
            <a:r>
              <a:rPr lang="es-CR" sz="1600">
                <a:solidFill>
                  <a:schemeClr val="tx1"/>
                </a:solidFill>
              </a:rPr>
              <a:t> ademas determinar</a:t>
            </a:r>
            <a:r>
              <a:rPr lang="en-US" sz="1600">
                <a:solidFill>
                  <a:schemeClr val="tx1"/>
                </a:solidFill>
              </a:rPr>
              <a:t> si fue de noche</a:t>
            </a:r>
            <a:endParaRPr lang="en-US" sz="1600"/>
          </a:p>
        </p:txBody>
      </p:sp>
      <p:pic>
        <p:nvPicPr>
          <p:cNvPr id="1804271896" name="monto_x_noche.png" descr="v05/figuras/monto_x_noche.png"/>
          <p:cNvPicPr>
            <a:picLocks noChangeAspect="1"/>
          </p:cNvPicPr>
          <p:nvPr/>
        </p:nvPicPr>
        <p:blipFill rotWithShape="1">
          <a:blip r:embed="rId3"/>
          <a:stretch/>
        </p:blipFill>
        <p:spPr bwMode="auto">
          <a:xfrm>
            <a:off x="5303520" y="1188720"/>
            <a:ext cx="3383280" cy="2765242"/>
          </a:xfrm>
          <a:prstGeom prst="rect">
            <a:avLst/>
          </a:prstGeom>
        </p:spPr>
      </p:pic>
      <p:sp>
        <p:nvSpPr>
          <p:cNvPr id="777162875"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2059513596"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Preprocesamiento y transformación</a:t>
            </a:r>
            <a:endParaRPr lang="en-US" sz="2800"/>
          </a:p>
        </p:txBody>
      </p:sp>
      <p:sp>
        <p:nvSpPr>
          <p:cNvPr id="116017723" name="Text 1"/>
          <p:cNvSpPr txBox="1"/>
          <p:nvPr/>
        </p:nvSpPr>
        <p:spPr bwMode="auto">
          <a:xfrm>
            <a:off x="457200" y="1097280"/>
            <a:ext cx="8229600" cy="3566160"/>
          </a:xfrm>
          <a:prstGeom prst="rect">
            <a:avLst/>
          </a:prstGeom>
          <a:noFill/>
          <a:ln/>
        </p:spPr>
        <p:txBody>
          <a:bodyPr wrap="square" lIns="0" tIns="0" rIns="0" bIns="0" rtlCol="0" anchor="t"/>
          <a:lstStyle/>
          <a:p>
            <a:pPr marL="342900" indent="-342900">
              <a:spcAft>
                <a:spcPts val="600"/>
              </a:spcAft>
              <a:buSzPct val="100000"/>
              <a:buChar char="•"/>
              <a:defRPr/>
            </a:pPr>
            <a:r>
              <a:rPr lang="en-US" sz="1600">
                <a:solidFill>
                  <a:schemeClr val="tx1"/>
                </a:solidFill>
              </a:rPr>
              <a:t>Nulos (aprox. 1.4%): </a:t>
            </a:r>
            <a:r>
              <a:rPr lang="es-CR" sz="1600">
                <a:solidFill>
                  <a:schemeClr val="tx1"/>
                </a:solidFill>
              </a:rPr>
              <a:t>resolví </a:t>
            </a:r>
            <a:r>
              <a:rPr lang="en-US" sz="1600">
                <a:solidFill>
                  <a:schemeClr val="tx1"/>
                </a:solidFill>
              </a:rPr>
              <a:t>edad con la mediana, canal y región con "Desconocido"</a:t>
            </a:r>
            <a:endParaRPr lang="en-US" sz="1600"/>
          </a:p>
          <a:p>
            <a:pPr marL="342900" indent="-342900">
              <a:spcAft>
                <a:spcPts val="600"/>
              </a:spcAft>
              <a:buSzPct val="100000"/>
              <a:buChar char="•"/>
              <a:defRPr/>
            </a:pPr>
            <a:r>
              <a:rPr lang="en-US" sz="1600">
                <a:solidFill>
                  <a:schemeClr val="tx1"/>
                </a:solidFill>
              </a:rPr>
              <a:t>Outliers con IQR: los conserve porque los montos atípicos tienen 22 veces más fraude</a:t>
            </a:r>
            <a:r>
              <a:rPr lang="es-CR" sz="1600">
                <a:solidFill>
                  <a:schemeClr val="tx1"/>
                </a:solidFill>
              </a:rPr>
              <a:t> aproximadamente</a:t>
            </a:r>
            <a:endParaRPr lang="en-US" sz="1600"/>
          </a:p>
          <a:p>
            <a:pPr marL="342900" indent="-342900">
              <a:spcAft>
                <a:spcPts val="600"/>
              </a:spcAft>
              <a:buSzPct val="100000"/>
              <a:buChar char="•"/>
              <a:defRPr/>
            </a:pPr>
            <a:r>
              <a:rPr lang="es-CR" sz="1600">
                <a:solidFill>
                  <a:schemeClr val="tx1"/>
                </a:solidFill>
              </a:rPr>
              <a:t>No hubieron duplicados</a:t>
            </a:r>
            <a:endParaRPr lang="en-US" sz="1600"/>
          </a:p>
          <a:p>
            <a:pPr marL="342900" indent="-342900">
              <a:spcAft>
                <a:spcPts val="600"/>
              </a:spcAft>
              <a:buSzPct val="100000"/>
              <a:buChar char="•"/>
              <a:defRPr/>
            </a:pPr>
            <a:r>
              <a:rPr lang="en-US" sz="1600">
                <a:solidFill>
                  <a:schemeClr val="tx1"/>
                </a:solidFill>
              </a:rPr>
              <a:t>Logaritmo al monto: la asimetría bajo de 8.66 a 1.64</a:t>
            </a:r>
            <a:endParaRPr lang="en-US" sz="1600"/>
          </a:p>
          <a:p>
            <a:pPr marL="342900" indent="-342900">
              <a:spcAft>
                <a:spcPts val="600"/>
              </a:spcAft>
              <a:buSzPct val="100000"/>
              <a:buChar char="•"/>
              <a:defRPr/>
            </a:pPr>
            <a:r>
              <a:rPr lang="en-US" sz="1600">
                <a:solidFill>
                  <a:schemeClr val="tx1"/>
                </a:solidFill>
              </a:rPr>
              <a:t>Variables nuevas: monto_log, hora_dia y es_noche</a:t>
            </a:r>
            <a:endParaRPr lang="en-US" sz="1600"/>
          </a:p>
          <a:p>
            <a:pPr marL="342900" indent="-342900">
              <a:spcAft>
                <a:spcPts val="600"/>
              </a:spcAft>
              <a:buSzPct val="100000"/>
              <a:buChar char="•"/>
              <a:defRPr/>
            </a:pPr>
            <a:r>
              <a:rPr lang="en-US" sz="1600">
                <a:solidFill>
                  <a:schemeClr val="tx1"/>
                </a:solidFill>
              </a:rPr>
              <a:t>Ningun par con correlacion mayor a 0.8, el m</a:t>
            </a:r>
            <a:r>
              <a:rPr lang="es-CR" sz="1600">
                <a:solidFill>
                  <a:schemeClr val="tx1"/>
                </a:solidFill>
              </a:rPr>
              <a:t>ás alto es monto con monto_log, teniendo 0.59 porque uno sale del otro</a:t>
            </a:r>
            <a:endParaRPr lang="en-US" sz="1600"/>
          </a:p>
          <a:p>
            <a:pPr marL="342900" indent="-342900">
              <a:spcAft>
                <a:spcPts val="600"/>
              </a:spcAft>
              <a:buSzPct val="100000"/>
              <a:buChar char="•"/>
              <a:defRPr/>
            </a:pPr>
            <a:r>
              <a:rPr lang="en-US" sz="1600">
                <a:solidFill>
                  <a:schemeClr val="tx1"/>
                </a:solidFill>
              </a:rPr>
              <a:t>Split 80/20 con stratify y semilla 42, Pipeline con OneHotEncoder y StandardScaler</a:t>
            </a:r>
            <a:endParaRPr lang="en-US" sz="1600"/>
          </a:p>
        </p:txBody>
      </p:sp>
      <p:sp>
        <p:nvSpPr>
          <p:cNvPr id="737209910"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spTree>
      <p:nvGrpSpPr>
        <p:cNvPr id="1" name=""/>
        <p:cNvGrpSpPr/>
        <p:nvPr/>
      </p:nvGrpSpPr>
      <p:grpSpPr bwMode="auto">
        <a:xfrm>
          <a:off x="0" y="0"/>
          <a:ext cx="0" cy="0"/>
          <a:chOff x="0" y="0"/>
          <a:chExt cx="0" cy="0"/>
        </a:xfrm>
      </p:grpSpPr>
      <p:sp>
        <p:nvSpPr>
          <p:cNvPr id="1476454304"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Algoritmos que use</a:t>
            </a:r>
            <a:endParaRPr lang="en-US" sz="2800"/>
          </a:p>
        </p:txBody>
      </p:sp>
      <p:sp>
        <p:nvSpPr>
          <p:cNvPr id="1439214955" name="Text 1"/>
          <p:cNvSpPr txBox="1"/>
          <p:nvPr/>
        </p:nvSpPr>
        <p:spPr bwMode="auto">
          <a:xfrm>
            <a:off x="457200" y="1097280"/>
            <a:ext cx="3931920" cy="365760"/>
          </a:xfrm>
          <a:prstGeom prst="rect">
            <a:avLst/>
          </a:prstGeom>
          <a:noFill/>
          <a:ln/>
        </p:spPr>
        <p:txBody>
          <a:bodyPr wrap="square" lIns="0" tIns="0" rIns="0" bIns="0" rtlCol="0" anchor="t"/>
          <a:lstStyle/>
          <a:p>
            <a:pPr marL="0" indent="0">
              <a:buNone/>
              <a:defRPr/>
            </a:pPr>
            <a:r>
              <a:rPr lang="en-US" sz="1800" b="1">
                <a:solidFill>
                  <a:schemeClr val="tx2"/>
                </a:solidFill>
              </a:rPr>
              <a:t>No supervisado</a:t>
            </a:r>
            <a:endParaRPr lang="en-US" sz="1800"/>
          </a:p>
        </p:txBody>
      </p:sp>
      <p:sp>
        <p:nvSpPr>
          <p:cNvPr id="247484721" name="Text 2"/>
          <p:cNvSpPr txBox="1"/>
          <p:nvPr/>
        </p:nvSpPr>
        <p:spPr bwMode="auto">
          <a:xfrm>
            <a:off x="457200" y="1554480"/>
            <a:ext cx="3931920" cy="2743200"/>
          </a:xfrm>
          <a:prstGeom prst="rect">
            <a:avLst/>
          </a:prstGeom>
          <a:noFill/>
          <a:ln/>
        </p:spPr>
        <p:txBody>
          <a:bodyPr wrap="square" lIns="0" tIns="0" rIns="0" bIns="0" rtlCol="0" anchor="t"/>
          <a:lstStyle/>
          <a:p>
            <a:pPr marL="342900" indent="-342900">
              <a:spcAft>
                <a:spcPts val="800"/>
              </a:spcAft>
              <a:buSzPct val="100000"/>
              <a:buChar char="•"/>
              <a:defRPr/>
            </a:pPr>
            <a:r>
              <a:rPr lang="en-US" sz="1600">
                <a:solidFill>
                  <a:schemeClr val="tx1"/>
                </a:solidFill>
              </a:rPr>
              <a:t>K-Means (k de 2 a 10), elegí k = 5</a:t>
            </a:r>
            <a:endParaRPr lang="en-US" sz="1600"/>
          </a:p>
          <a:p>
            <a:pPr marL="342900" indent="-342900">
              <a:spcAft>
                <a:spcPts val="800"/>
              </a:spcAft>
              <a:buSzPct val="100000"/>
              <a:buChar char="•"/>
              <a:defRPr/>
            </a:pPr>
            <a:r>
              <a:rPr lang="en-US" sz="1600">
                <a:solidFill>
                  <a:schemeClr val="tx1"/>
                </a:solidFill>
              </a:rPr>
              <a:t>DBSCAN (eps = 0.8, min_samples = 10)</a:t>
            </a:r>
            <a:endParaRPr lang="en-US" sz="1600"/>
          </a:p>
          <a:p>
            <a:pPr marL="342900" indent="-342900">
              <a:spcAft>
                <a:spcPts val="800"/>
              </a:spcAft>
              <a:buSzPct val="100000"/>
              <a:buChar char="•"/>
              <a:defRPr/>
            </a:pPr>
            <a:r>
              <a:rPr lang="en-US" sz="1600">
                <a:solidFill>
                  <a:schemeClr val="tx1"/>
                </a:solidFill>
              </a:rPr>
              <a:t>PCA a 2 y 3 componentes</a:t>
            </a:r>
            <a:endParaRPr lang="en-US" sz="1600"/>
          </a:p>
          <a:p>
            <a:pPr marL="342900" indent="-342900">
              <a:spcAft>
                <a:spcPts val="800"/>
              </a:spcAft>
              <a:buSzPct val="100000"/>
              <a:buChar char="•"/>
              <a:defRPr/>
            </a:pPr>
            <a:r>
              <a:rPr lang="en-US" sz="1600">
                <a:solidFill>
                  <a:schemeClr val="tx1"/>
                </a:solidFill>
              </a:rPr>
              <a:t>Apriori </a:t>
            </a:r>
            <a:endParaRPr lang="en-US" sz="1600"/>
          </a:p>
        </p:txBody>
      </p:sp>
      <p:sp>
        <p:nvSpPr>
          <p:cNvPr id="370966788" name="Text 3"/>
          <p:cNvSpPr txBox="1"/>
          <p:nvPr/>
        </p:nvSpPr>
        <p:spPr bwMode="auto">
          <a:xfrm>
            <a:off x="4754880" y="1097280"/>
            <a:ext cx="3931920" cy="365760"/>
          </a:xfrm>
          <a:prstGeom prst="rect">
            <a:avLst/>
          </a:prstGeom>
          <a:noFill/>
          <a:ln/>
        </p:spPr>
        <p:txBody>
          <a:bodyPr wrap="square" lIns="0" tIns="0" rIns="0" bIns="0" rtlCol="0" anchor="t"/>
          <a:lstStyle/>
          <a:p>
            <a:pPr marL="0" indent="0">
              <a:buNone/>
              <a:defRPr/>
            </a:pPr>
            <a:r>
              <a:rPr lang="en-US" sz="1800" b="1">
                <a:solidFill>
                  <a:schemeClr val="tx2"/>
                </a:solidFill>
              </a:rPr>
              <a:t>Supervisado</a:t>
            </a:r>
            <a:endParaRPr lang="en-US" sz="1800"/>
          </a:p>
        </p:txBody>
      </p:sp>
      <p:sp>
        <p:nvSpPr>
          <p:cNvPr id="582004104" name="Text 4"/>
          <p:cNvSpPr txBox="1"/>
          <p:nvPr/>
        </p:nvSpPr>
        <p:spPr bwMode="auto">
          <a:xfrm>
            <a:off x="4754880" y="1554480"/>
            <a:ext cx="3931920" cy="2743200"/>
          </a:xfrm>
          <a:prstGeom prst="rect">
            <a:avLst/>
          </a:prstGeom>
          <a:noFill/>
          <a:ln/>
        </p:spPr>
        <p:txBody>
          <a:bodyPr wrap="square" lIns="0" tIns="0" rIns="0" bIns="0" rtlCol="0" anchor="t"/>
          <a:lstStyle/>
          <a:p>
            <a:pPr marL="342900" indent="-342900">
              <a:spcAft>
                <a:spcPts val="800"/>
              </a:spcAft>
              <a:buSzPct val="100000"/>
              <a:buChar char="•"/>
              <a:defRPr/>
            </a:pPr>
            <a:r>
              <a:rPr lang="en-US" sz="1600">
                <a:solidFill>
                  <a:schemeClr val="tx1"/>
                </a:solidFill>
              </a:rPr>
              <a:t>Regresión Logística (balanced)</a:t>
            </a:r>
            <a:endParaRPr lang="en-US" sz="1600"/>
          </a:p>
          <a:p>
            <a:pPr marL="342900" indent="-342900">
              <a:spcAft>
                <a:spcPts val="800"/>
              </a:spcAft>
              <a:buSzPct val="100000"/>
              <a:buChar char="•"/>
              <a:defRPr/>
            </a:pPr>
            <a:r>
              <a:rPr lang="en-US" sz="1600">
                <a:solidFill>
                  <a:schemeClr val="tx1"/>
                </a:solidFill>
              </a:rPr>
              <a:t>Random Forest (balanced)</a:t>
            </a:r>
            <a:endParaRPr lang="en-US" sz="1600"/>
          </a:p>
          <a:p>
            <a:pPr marL="342900" indent="-342900">
              <a:spcAft>
                <a:spcPts val="800"/>
              </a:spcAft>
              <a:buSzPct val="100000"/>
              <a:buChar char="•"/>
              <a:defRPr/>
            </a:pPr>
            <a:r>
              <a:rPr lang="en-US" sz="1600">
                <a:solidFill>
                  <a:schemeClr val="tx1"/>
                </a:solidFill>
              </a:rPr>
              <a:t>Gradient Boosting </a:t>
            </a:r>
            <a:endParaRPr lang="en-US" sz="1600"/>
          </a:p>
          <a:p>
            <a:pPr marL="342900" indent="-342900">
              <a:spcAft>
                <a:spcPts val="800"/>
              </a:spcAft>
              <a:buSzPct val="100000"/>
              <a:buChar char="•"/>
              <a:defRPr/>
            </a:pPr>
            <a:r>
              <a:rPr lang="en-US" sz="1600">
                <a:solidFill>
                  <a:schemeClr val="tx1"/>
                </a:solidFill>
              </a:rPr>
              <a:t>Test: 1 000 transacciones, 22 fraudes</a:t>
            </a:r>
            <a:endParaRPr lang="en-US" sz="1600"/>
          </a:p>
        </p:txBody>
      </p:sp>
      <p:sp>
        <p:nvSpPr>
          <p:cNvPr id="132215535"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spTree>
      <p:nvGrpSpPr>
        <p:cNvPr id="1" name=""/>
        <p:cNvGrpSpPr/>
        <p:nvPr/>
      </p:nvGrpSpPr>
      <p:grpSpPr bwMode="auto">
        <a:xfrm>
          <a:off x="0" y="0"/>
          <a:ext cx="0" cy="0"/>
          <a:chOff x="0" y="0"/>
          <a:chExt cx="0" cy="0"/>
        </a:xfrm>
      </p:grpSpPr>
      <p:sp>
        <p:nvSpPr>
          <p:cNvPr id="1668422042"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Lo encontrado: monto alto + noche = fraude</a:t>
            </a:r>
            <a:endParaRPr lang="en-US" sz="2800"/>
          </a:p>
        </p:txBody>
      </p:sp>
      <p:pic>
        <p:nvPicPr>
          <p:cNvPr id="1475174645" name="fraude_por_hora.png" descr="v05/figuras/fraude_por_hora.png"/>
          <p:cNvPicPr>
            <a:picLocks noChangeAspect="1"/>
          </p:cNvPicPr>
          <p:nvPr/>
        </p:nvPicPr>
        <p:blipFill rotWithShape="1">
          <a:blip r:embed="rId3"/>
          <a:stretch/>
        </p:blipFill>
        <p:spPr bwMode="auto">
          <a:xfrm>
            <a:off x="457200" y="1097280"/>
            <a:ext cx="5120640" cy="1967113"/>
          </a:xfrm>
          <a:prstGeom prst="rect">
            <a:avLst/>
          </a:prstGeom>
        </p:spPr>
      </p:pic>
      <p:sp>
        <p:nvSpPr>
          <p:cNvPr id="1494366443" name="Text 1"/>
          <p:cNvSpPr txBox="1"/>
          <p:nvPr/>
        </p:nvSpPr>
        <p:spPr bwMode="auto">
          <a:xfrm>
            <a:off x="5760720" y="1188720"/>
            <a:ext cx="3017519" cy="3291840"/>
          </a:xfrm>
          <a:prstGeom prst="rect">
            <a:avLst/>
          </a:prstGeom>
          <a:noFill/>
          <a:ln/>
        </p:spPr>
        <p:txBody>
          <a:bodyPr wrap="square" lIns="0" tIns="0" rIns="0" bIns="0" rtlCol="0" anchor="t"/>
          <a:lstStyle/>
          <a:p>
            <a:pPr marL="342900" indent="-342900">
              <a:spcAft>
                <a:spcPts val="800"/>
              </a:spcAft>
              <a:buSzPct val="100000"/>
              <a:buChar char="•"/>
              <a:defRPr/>
            </a:pPr>
            <a:r>
              <a:rPr lang="en-US" sz="1500">
                <a:solidFill>
                  <a:schemeClr val="tx1"/>
                </a:solidFill>
              </a:rPr>
              <a:t>Monto alto de noche: aprox. 24% de fraude</a:t>
            </a:r>
            <a:endParaRPr lang="en-US" sz="1500"/>
          </a:p>
          <a:p>
            <a:pPr marL="342900" indent="-342900">
              <a:spcAft>
                <a:spcPts val="800"/>
              </a:spcAft>
              <a:buSzPct val="100000"/>
              <a:buChar char="•"/>
              <a:defRPr/>
            </a:pPr>
            <a:r>
              <a:rPr lang="en-US" sz="1500">
                <a:solidFill>
                  <a:schemeClr val="tx1"/>
                </a:solidFill>
              </a:rPr>
              <a:t>En el resto no pasa de 1.5%</a:t>
            </a:r>
            <a:endParaRPr lang="en-US" sz="1500"/>
          </a:p>
          <a:p>
            <a:pPr marL="342900" indent="-342900">
              <a:spcAft>
                <a:spcPts val="800"/>
              </a:spcAft>
              <a:buSzPct val="100000"/>
              <a:buChar char="•"/>
              <a:defRPr/>
            </a:pPr>
            <a:r>
              <a:rPr lang="en-US" sz="1500">
                <a:solidFill>
                  <a:schemeClr val="tx1"/>
                </a:solidFill>
              </a:rPr>
              <a:t>K-Means: un cluster de montos altos con 32% de fraude</a:t>
            </a:r>
            <a:endParaRPr lang="en-US" sz="1500"/>
          </a:p>
          <a:p>
            <a:pPr marL="342900" indent="-342900">
              <a:spcAft>
                <a:spcPts val="800"/>
              </a:spcAft>
              <a:buSzPct val="100000"/>
              <a:buChar char="•"/>
              <a:defRPr/>
            </a:pPr>
            <a:r>
              <a:rPr lang="en-US" sz="1500">
                <a:solidFill>
                  <a:schemeClr val="tx1"/>
                </a:solidFill>
              </a:rPr>
              <a:t>Apriori: monto alto + noche tiene un lift de 11</a:t>
            </a:r>
            <a:endParaRPr lang="en-US" sz="1500"/>
          </a:p>
        </p:txBody>
      </p:sp>
      <p:sp>
        <p:nvSpPr>
          <p:cNvPr id="1962944985"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sp>
        <p:nvSpPr>
          <p:cNvPr id="569754719"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Comparación de modelos</a:t>
            </a:r>
            <a:endParaRPr lang="en-US" sz="2800"/>
          </a:p>
        </p:txBody>
      </p:sp>
      <p:graphicFrame>
        <p:nvGraphicFramePr>
          <p:cNvPr id="1922058872" name="Table 0"/>
          <p:cNvGraphicFramePr>
            <a:graphicFrameLocks xmlns:a="http://schemas.openxmlformats.org/drawingml/2006/main" noGrp="1"/>
          </p:cNvGraphicFramePr>
          <p:nvPr/>
        </p:nvGraphicFramePr>
        <p:xfrm rot="0">
          <a:off x="457200" y="1097280"/>
          <a:ext cx="8229600" cy="914400"/>
        </p:xfrm>
        <a:graphic>
          <a:graphicData uri="http://schemas.openxmlformats.org/drawingml/2006/table">
            <a:tbl>
              <a:tblPr firstRow="0" firstCol="0" lastRow="0" lastCol="0" bandRow="0" bandCol="0"/>
              <a:tblGrid>
                <a:gridCol w="3108960"/>
                <a:gridCol w="1280160"/>
                <a:gridCol w="1280160"/>
                <a:gridCol w="1280160"/>
                <a:gridCol w="1280160"/>
              </a:tblGrid>
              <a:tr h="384048">
                <a:tc>
                  <a:txBody>
                    <a:bodyPr/>
                    <a:p>
                      <a:pPr marL="0" indent="0">
                        <a:buNone/>
                        <a:defRPr/>
                      </a:pPr>
                      <a:r>
                        <a:rPr lang="en-US" sz="1500" b="1">
                          <a:solidFill>
                            <a:srgbClr val="222222"/>
                          </a:solidFill>
                          <a:latin typeface="Calibri"/>
                          <a:ea typeface="Calibri"/>
                          <a:cs typeface="Calibri"/>
                        </a:rPr>
                        <a:t>Modelo</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solidFill>
                      <a:srgbClr val="D9E2F3"/>
                    </a:solidFill>
                  </a:tcPr>
                </a:tc>
                <a:tc>
                  <a:txBody>
                    <a:bodyPr/>
                    <a:p>
                      <a:pPr marL="0" indent="0">
                        <a:buNone/>
                        <a:defRPr/>
                      </a:pPr>
                      <a:r>
                        <a:rPr lang="en-US" sz="1500" b="1">
                          <a:solidFill>
                            <a:srgbClr val="222222"/>
                          </a:solidFill>
                          <a:latin typeface="Calibri"/>
                          <a:ea typeface="Calibri"/>
                          <a:cs typeface="Calibri"/>
                        </a:rPr>
                        <a:t>Precision</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solidFill>
                      <a:srgbClr val="D9E2F3"/>
                    </a:solidFill>
                  </a:tcPr>
                </a:tc>
                <a:tc>
                  <a:txBody>
                    <a:bodyPr/>
                    <a:p>
                      <a:pPr marL="0" indent="0">
                        <a:buNone/>
                        <a:defRPr/>
                      </a:pPr>
                      <a:r>
                        <a:rPr lang="en-US" sz="1500" b="1">
                          <a:solidFill>
                            <a:srgbClr val="222222"/>
                          </a:solidFill>
                          <a:latin typeface="Calibri"/>
                          <a:ea typeface="Calibri"/>
                          <a:cs typeface="Calibri"/>
                        </a:rPr>
                        <a:t>Recall</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solidFill>
                      <a:srgbClr val="D9E2F3"/>
                    </a:solidFill>
                  </a:tcPr>
                </a:tc>
                <a:tc>
                  <a:txBody>
                    <a:bodyPr/>
                    <a:p>
                      <a:pPr marL="0" indent="0">
                        <a:buNone/>
                        <a:defRPr/>
                      </a:pPr>
                      <a:r>
                        <a:rPr lang="en-US" sz="1500" b="1">
                          <a:solidFill>
                            <a:srgbClr val="222222"/>
                          </a:solidFill>
                          <a:latin typeface="Calibri"/>
                          <a:ea typeface="Calibri"/>
                          <a:cs typeface="Calibri"/>
                        </a:rPr>
                        <a:t>F1</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solidFill>
                      <a:srgbClr val="D9E2F3"/>
                    </a:solidFill>
                  </a:tcPr>
                </a:tc>
                <a:tc>
                  <a:txBody>
                    <a:bodyPr/>
                    <a:p>
                      <a:pPr marL="0" indent="0">
                        <a:buNone/>
                        <a:defRPr/>
                      </a:pPr>
                      <a:r>
                        <a:rPr lang="en-US" sz="1500" b="1">
                          <a:solidFill>
                            <a:srgbClr val="222222"/>
                          </a:solidFill>
                          <a:latin typeface="Calibri"/>
                          <a:ea typeface="Calibri"/>
                          <a:cs typeface="Calibri"/>
                        </a:rPr>
                        <a:t>AUC</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solidFill>
                      <a:srgbClr val="D9E2F3"/>
                    </a:solidFill>
                  </a:tcPr>
                </a:tc>
              </a:tr>
              <a:tr h="384048">
                <a:tc>
                  <a:txBody>
                    <a:bodyPr/>
                    <a:p>
                      <a:pPr marL="0" indent="0">
                        <a:buNone/>
                        <a:defRPr/>
                      </a:pPr>
                      <a:r>
                        <a:rPr lang="en-US" sz="1500">
                          <a:solidFill>
                            <a:srgbClr val="222222"/>
                          </a:solidFill>
                          <a:latin typeface="Calibri"/>
                          <a:ea typeface="Calibri"/>
                          <a:cs typeface="Calibri"/>
                        </a:rPr>
                        <a:t>Regresión Logística</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0.100</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0.818</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0.178</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0.906</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r>
              <a:tr h="384048">
                <a:tc>
                  <a:txBody>
                    <a:bodyPr/>
                    <a:p>
                      <a:pPr marL="0" indent="0">
                        <a:buNone/>
                        <a:defRPr/>
                      </a:pPr>
                      <a:r>
                        <a:rPr lang="en-US" sz="1500">
                          <a:solidFill>
                            <a:srgbClr val="222222"/>
                          </a:solidFill>
                          <a:latin typeface="Calibri"/>
                          <a:ea typeface="Calibri"/>
                          <a:cs typeface="Calibri"/>
                        </a:rPr>
                        <a:t>Random Forest</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1.000</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0.727</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0.842</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0.894</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r>
              <a:tr h="384048">
                <a:tc>
                  <a:txBody>
                    <a:bodyPr/>
                    <a:p>
                      <a:pPr marL="0" indent="0">
                        <a:buNone/>
                        <a:defRPr/>
                      </a:pPr>
                      <a:r>
                        <a:rPr lang="en-US" sz="1500">
                          <a:solidFill>
                            <a:srgbClr val="222222"/>
                          </a:solidFill>
                          <a:latin typeface="Calibri"/>
                          <a:ea typeface="Calibri"/>
                          <a:cs typeface="Calibri"/>
                        </a:rPr>
                        <a:t>Gradient Boosting</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0.895</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0.773</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0.829</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0.889</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r>
            </a:tbl>
          </a:graphicData>
        </a:graphic>
      </p:graphicFrame>
      <p:sp>
        <p:nvSpPr>
          <p:cNvPr id="1735160697" name="Text 1"/>
          <p:cNvSpPr txBox="1"/>
          <p:nvPr/>
        </p:nvSpPr>
        <p:spPr bwMode="auto">
          <a:xfrm>
            <a:off x="457200" y="3017519"/>
            <a:ext cx="8229600" cy="1554480"/>
          </a:xfrm>
          <a:prstGeom prst="rect">
            <a:avLst/>
          </a:prstGeom>
          <a:noFill/>
          <a:ln/>
        </p:spPr>
        <p:txBody>
          <a:bodyPr wrap="square" lIns="0" tIns="0" rIns="0" bIns="0" rtlCol="0" anchor="t"/>
          <a:lstStyle/>
          <a:p>
            <a:pPr marL="342900" indent="-342900">
              <a:spcAft>
                <a:spcPts val="600"/>
              </a:spcAft>
              <a:buSzPct val="100000"/>
              <a:buChar char="•"/>
              <a:defRPr/>
            </a:pPr>
            <a:r>
              <a:rPr lang="en-US" sz="1600">
                <a:solidFill>
                  <a:schemeClr val="tx1"/>
                </a:solidFill>
              </a:rPr>
              <a:t>La Regresión Logística detecta 18 de 22 pero molestaria a 162 clientes legítimos</a:t>
            </a:r>
            <a:endParaRPr lang="en-US" sz="1600"/>
          </a:p>
          <a:p>
            <a:pPr marL="342900" indent="-342900">
              <a:spcAft>
                <a:spcPts val="600"/>
              </a:spcAft>
              <a:buSzPct val="100000"/>
              <a:buChar char="•"/>
              <a:defRPr/>
            </a:pPr>
            <a:r>
              <a:rPr lang="en-US" sz="1600">
                <a:solidFill>
                  <a:schemeClr val="tx1"/>
                </a:solidFill>
              </a:rPr>
              <a:t>El Random Forest detecta 16 de 22 y todas sus alertas son fraude real</a:t>
            </a:r>
            <a:endParaRPr lang="en-US" sz="1600"/>
          </a:p>
          <a:p>
            <a:pPr marL="342900" indent="-342900">
              <a:spcAft>
                <a:spcPts val="600"/>
              </a:spcAft>
              <a:buSzPct val="100000"/>
              <a:buChar char="•"/>
              <a:defRPr/>
            </a:pPr>
            <a:r>
              <a:rPr lang="en-US" sz="1600">
                <a:solidFill>
                  <a:schemeClr val="tx1"/>
                </a:solidFill>
              </a:rPr>
              <a:t>Elegí el Random Forest por ser el que mejor resultados me entrego para los objetivos que buscamos cumplir</a:t>
            </a:r>
            <a:endParaRPr lang="en-US" sz="1600"/>
          </a:p>
        </p:txBody>
      </p:sp>
      <p:sp>
        <p:nvSpPr>
          <p:cNvPr id="1205961387"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1199715332"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Clusters y variables más importantes</a:t>
            </a:r>
            <a:endParaRPr lang="en-US" sz="2800"/>
          </a:p>
        </p:txBody>
      </p:sp>
      <p:pic>
        <p:nvPicPr>
          <p:cNvPr id="399259421" name="pca_clusters.png" descr="v05/figuras/pca_clusters.png"/>
          <p:cNvPicPr>
            <a:picLocks noChangeAspect="1"/>
          </p:cNvPicPr>
          <p:nvPr/>
        </p:nvPicPr>
        <p:blipFill rotWithShape="1">
          <a:blip r:embed="rId3"/>
          <a:stretch/>
        </p:blipFill>
        <p:spPr bwMode="auto">
          <a:xfrm>
            <a:off x="365760" y="1097280"/>
            <a:ext cx="5120640" cy="2234634"/>
          </a:xfrm>
          <a:prstGeom prst="rect">
            <a:avLst/>
          </a:prstGeom>
        </p:spPr>
      </p:pic>
      <p:pic>
        <p:nvPicPr>
          <p:cNvPr id="744600585" name="importancia_rf.png" descr="v05/figuras/importancia_rf.png"/>
          <p:cNvPicPr>
            <a:picLocks noChangeAspect="1"/>
          </p:cNvPicPr>
          <p:nvPr/>
        </p:nvPicPr>
        <p:blipFill rotWithShape="1">
          <a:blip r:embed="rId4"/>
          <a:stretch/>
        </p:blipFill>
        <p:spPr bwMode="auto">
          <a:xfrm>
            <a:off x="5577840" y="1097280"/>
            <a:ext cx="3200400" cy="1825195"/>
          </a:xfrm>
          <a:prstGeom prst="rect">
            <a:avLst/>
          </a:prstGeom>
        </p:spPr>
      </p:pic>
      <p:sp>
        <p:nvSpPr>
          <p:cNvPr id="1927269101" name="Text 1"/>
          <p:cNvSpPr txBox="1"/>
          <p:nvPr/>
        </p:nvSpPr>
        <p:spPr bwMode="auto">
          <a:xfrm>
            <a:off x="457200" y="4343400"/>
            <a:ext cx="8229600" cy="457200"/>
          </a:xfrm>
          <a:prstGeom prst="rect">
            <a:avLst/>
          </a:prstGeom>
          <a:noFill/>
          <a:ln/>
        </p:spPr>
        <p:txBody>
          <a:bodyPr wrap="square" lIns="0" tIns="0" rIns="0" bIns="0" rtlCol="0" anchor="t"/>
          <a:lstStyle/>
          <a:p>
            <a:pPr marL="0" indent="0">
              <a:buNone/>
              <a:defRPr/>
            </a:pPr>
            <a:r>
              <a:rPr lang="en-US" sz="1300">
                <a:solidFill>
                  <a:schemeClr val="tx1"/>
                </a:solidFill>
              </a:rPr>
              <a:t>Los fraudes se concentran en una zona del espacio PCA. Las variables que más pesan son monto_log, hora_dia y es_noche.</a:t>
            </a:r>
            <a:endParaRPr lang="en-US" sz="1300"/>
          </a:p>
        </p:txBody>
      </p:sp>
      <p:sp>
        <p:nvSpPr>
          <p:cNvPr id="13923421"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spTree>
      <p:nvGrpSpPr>
        <p:cNvPr id="1" name=""/>
        <p:cNvGrpSpPr/>
        <p:nvPr/>
      </p:nvGrpSpPr>
      <p:grpSpPr bwMode="auto">
        <a:xfrm>
          <a:off x="0" y="0"/>
          <a:ext cx="0" cy="0"/>
          <a:chOff x="0" y="0"/>
          <a:chExt cx="0" cy="0"/>
        </a:xfrm>
      </p:grpSpPr>
      <p:sp>
        <p:nvSpPr>
          <p:cNvPr id="807640994"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Como usarlo en el banco</a:t>
            </a:r>
            <a:endParaRPr lang="en-US" sz="2800"/>
          </a:p>
        </p:txBody>
      </p:sp>
      <p:graphicFrame>
        <p:nvGraphicFramePr>
          <p:cNvPr id="498965947" name="Table 0"/>
          <p:cNvGraphicFramePr>
            <a:graphicFrameLocks xmlns:a="http://schemas.openxmlformats.org/drawingml/2006/main" noGrp="1"/>
          </p:cNvGraphicFramePr>
          <p:nvPr/>
        </p:nvGraphicFramePr>
        <p:xfrm rot="0">
          <a:off x="457200" y="1097280"/>
          <a:ext cx="8229600" cy="914400"/>
        </p:xfrm>
        <a:graphic>
          <a:graphicData uri="http://schemas.openxmlformats.org/drawingml/2006/table">
            <a:tbl>
              <a:tblPr firstRow="0" firstCol="0" lastRow="0" lastCol="0" bandRow="0" bandCol="0"/>
              <a:tblGrid>
                <a:gridCol w="2743200"/>
                <a:gridCol w="2743200"/>
                <a:gridCol w="2743200"/>
              </a:tblGrid>
              <a:tr h="384048">
                <a:tc>
                  <a:txBody>
                    <a:bodyPr/>
                    <a:p>
                      <a:pPr marL="0" indent="0">
                        <a:buNone/>
                        <a:defRPr/>
                      </a:pPr>
                      <a:r>
                        <a:rPr lang="en-US" sz="1500" b="1">
                          <a:solidFill>
                            <a:srgbClr val="222222"/>
                          </a:solidFill>
                          <a:latin typeface="Calibri"/>
                          <a:ea typeface="Calibri"/>
                          <a:cs typeface="Calibri"/>
                        </a:rPr>
                        <a:t>Nivel de riesgo</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solidFill>
                      <a:srgbClr val="D9E2F3"/>
                    </a:solidFill>
                  </a:tcPr>
                </a:tc>
                <a:tc>
                  <a:txBody>
                    <a:bodyPr/>
                    <a:p>
                      <a:pPr marL="0" indent="0">
                        <a:buNone/>
                        <a:defRPr/>
                      </a:pPr>
                      <a:r>
                        <a:rPr lang="en-US" sz="1500" b="1">
                          <a:solidFill>
                            <a:srgbClr val="222222"/>
                          </a:solidFill>
                          <a:latin typeface="Calibri"/>
                          <a:ea typeface="Calibri"/>
                          <a:cs typeface="Calibri"/>
                        </a:rPr>
                        <a:t>Qué hacer</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solidFill>
                      <a:srgbClr val="D9E2F3"/>
                    </a:solidFill>
                  </a:tcPr>
                </a:tc>
                <a:tc>
                  <a:txBody>
                    <a:bodyPr/>
                    <a:p>
                      <a:pPr marL="0" indent="0">
                        <a:buNone/>
                        <a:defRPr/>
                      </a:pPr>
                      <a:r>
                        <a:rPr lang="en-US" sz="1500" b="1">
                          <a:solidFill>
                            <a:srgbClr val="222222"/>
                          </a:solidFill>
                          <a:latin typeface="Calibri"/>
                          <a:ea typeface="Calibri"/>
                          <a:cs typeface="Calibri"/>
                        </a:rPr>
                        <a:t>Test</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solidFill>
                      <a:srgbClr val="D9E2F3"/>
                    </a:solidFill>
                  </a:tcPr>
                </a:tc>
              </a:tr>
              <a:tr h="384048">
                <a:tc>
                  <a:txBody>
                    <a:bodyPr/>
                    <a:p>
                      <a:pPr marL="0" indent="0">
                        <a:buNone/>
                        <a:defRPr/>
                      </a:pPr>
                      <a:r>
                        <a:rPr lang="en-US" sz="1500">
                          <a:solidFill>
                            <a:srgbClr val="222222"/>
                          </a:solidFill>
                          <a:latin typeface="Calibri"/>
                          <a:ea typeface="Calibri"/>
                          <a:cs typeface="Calibri"/>
                        </a:rPr>
                        <a:t>Bajo (menor a 0.3)</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Aprobar sin molestar</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981 transacciones</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r>
              <a:tr h="384048">
                <a:tc>
                  <a:txBody>
                    <a:bodyPr/>
                    <a:p>
                      <a:pPr marL="0" indent="0">
                        <a:buNone/>
                        <a:defRPr/>
                      </a:pPr>
                      <a:r>
                        <a:rPr lang="en-US" sz="1500">
                          <a:solidFill>
                            <a:srgbClr val="222222"/>
                          </a:solidFill>
                          <a:latin typeface="Calibri"/>
                          <a:ea typeface="Calibri"/>
                          <a:cs typeface="Calibri"/>
                        </a:rPr>
                        <a:t>Medio (0.3 a 0.5)</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Pedir código OTP</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3 (2 eran fraude)</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r>
              <a:tr h="384048">
                <a:tc>
                  <a:txBody>
                    <a:bodyPr/>
                    <a:p>
                      <a:pPr marL="0" indent="0">
                        <a:buNone/>
                        <a:defRPr/>
                      </a:pPr>
                      <a:r>
                        <a:rPr lang="en-US" sz="1500">
                          <a:solidFill>
                            <a:srgbClr val="222222"/>
                          </a:solidFill>
                          <a:latin typeface="Calibri"/>
                          <a:ea typeface="Calibri"/>
                          <a:cs typeface="Calibri"/>
                        </a:rPr>
                        <a:t>Alto (0.5 o más)</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Bloquear y alertar</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c>
                  <a:txBody>
                    <a:bodyPr/>
                    <a:p>
                      <a:pPr marL="0" indent="0">
                        <a:buNone/>
                        <a:defRPr/>
                      </a:pPr>
                      <a:r>
                        <a:rPr lang="en-US" sz="1500">
                          <a:solidFill>
                            <a:srgbClr val="222222"/>
                          </a:solidFill>
                          <a:latin typeface="Calibri"/>
                          <a:ea typeface="Calibri"/>
                          <a:cs typeface="Calibri"/>
                        </a:rPr>
                        <a:t>16 (las 16 eran fraude)</a:t>
                      </a:r>
                      <a:endParaRPr lang="en-US" sz="1500">
                        <a:latin typeface="Calibri"/>
                        <a:ea typeface="Calibri"/>
                        <a:cs typeface="Calibri"/>
                      </a:endParaRPr>
                    </a:p>
                  </a:txBody>
                  <a:tcPr marL="91440" marR="91440" marT="45720" marB="45720">
                    <a:lnL w="6350" algn="ctr">
                      <a:solidFill>
                        <a:srgbClr val="999999"/>
                      </a:solidFill>
                    </a:lnL>
                    <a:lnR w="6350" algn="ctr">
                      <a:solidFill>
                        <a:srgbClr val="999999"/>
                      </a:solidFill>
                    </a:lnR>
                    <a:lnT w="6350" algn="ctr">
                      <a:solidFill>
                        <a:srgbClr val="999999"/>
                      </a:solidFill>
                    </a:lnT>
                    <a:lnB w="6350" algn="ctr">
                      <a:solidFill>
                        <a:srgbClr val="999999"/>
                      </a:solidFill>
                    </a:lnB>
                  </a:tcPr>
                </a:tc>
              </a:tr>
            </a:tbl>
          </a:graphicData>
        </a:graphic>
      </p:graphicFrame>
      <p:sp>
        <p:nvSpPr>
          <p:cNvPr id="1156495105" name="Text 1"/>
          <p:cNvSpPr txBox="1"/>
          <p:nvPr/>
        </p:nvSpPr>
        <p:spPr bwMode="auto">
          <a:xfrm>
            <a:off x="457200" y="3017519"/>
            <a:ext cx="8229600" cy="1554480"/>
          </a:xfrm>
          <a:prstGeom prst="rect">
            <a:avLst/>
          </a:prstGeom>
          <a:noFill/>
          <a:ln/>
        </p:spPr>
        <p:txBody>
          <a:bodyPr wrap="square" lIns="0" tIns="0" rIns="0" bIns="0" rtlCol="0" anchor="t"/>
          <a:lstStyle/>
          <a:p>
            <a:pPr marL="342900" indent="-342900">
              <a:spcAft>
                <a:spcPts val="600"/>
              </a:spcAft>
              <a:buSzPct val="100000"/>
              <a:buChar char="•"/>
              <a:defRPr/>
            </a:pPr>
            <a:r>
              <a:rPr lang="en-US" sz="1600">
                <a:solidFill>
                  <a:schemeClr val="tx1"/>
                </a:solidFill>
              </a:rPr>
              <a:t>Con umbral 0.3: 18 de 22 fraudes y solo 1 cliente molestado</a:t>
            </a:r>
            <a:endParaRPr lang="en-US" sz="1600"/>
          </a:p>
          <a:p>
            <a:pPr marL="342900" indent="-342900">
              <a:spcAft>
                <a:spcPts val="600"/>
              </a:spcAft>
              <a:buSzPct val="100000"/>
              <a:buChar char="•"/>
              <a:defRPr/>
            </a:pPr>
            <a:r>
              <a:rPr lang="en-US" sz="1600">
                <a:solidFill>
                  <a:schemeClr val="tx1"/>
                </a:solidFill>
              </a:rPr>
              <a:t>Mientras tanto: verificación extra para montos altos de noche</a:t>
            </a:r>
            <a:endParaRPr lang="en-US" sz="1600"/>
          </a:p>
          <a:p>
            <a:pPr marL="342900" indent="-342900">
              <a:spcAft>
                <a:spcPts val="600"/>
              </a:spcAft>
              <a:buSzPct val="100000"/>
              <a:buChar char="•"/>
              <a:defRPr/>
            </a:pPr>
            <a:r>
              <a:rPr lang="en-US" sz="1600">
                <a:solidFill>
                  <a:schemeClr val="tx1"/>
                </a:solidFill>
              </a:rPr>
              <a:t>DBSCAN como alerta extra cada mes</a:t>
            </a:r>
            <a:endParaRPr lang="en-US" sz="1600"/>
          </a:p>
        </p:txBody>
      </p:sp>
      <p:sp>
        <p:nvSpPr>
          <p:cNvPr id="1953024606"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spTree>
      <p:nvGrpSpPr>
        <p:cNvPr id="1" name=""/>
        <p:cNvGrpSpPr/>
        <p:nvPr/>
      </p:nvGrpSpPr>
      <p:grpSpPr bwMode="auto">
        <a:xfrm>
          <a:off x="0" y="0"/>
          <a:ext cx="0" cy="0"/>
          <a:chOff x="0" y="0"/>
          <a:chExt cx="0" cy="0"/>
        </a:xfrm>
      </p:grpSpPr>
      <p:sp>
        <p:nvSpPr>
          <p:cNvPr id="460912059" name="Text 0"/>
          <p:cNvSpPr/>
          <p:nvPr>
            <p:ph type="title" idx="100" hasCustomPrompt="1"/>
          </p:nvPr>
        </p:nvSpPr>
        <p:spPr bwMode="auto">
          <a:xfrm>
            <a:off x="457200" y="228600"/>
            <a:ext cx="8229600" cy="685800"/>
          </a:xfrm>
          <a:prstGeom prst="rect">
            <a:avLst/>
          </a:prstGeom>
          <a:noFill/>
          <a:ln/>
        </p:spPr>
        <p:txBody>
          <a:bodyPr wrap="square" lIns="0" tIns="0" rIns="0" bIns="0" rtlCol="0" anchor="ctr"/>
          <a:lstStyle/>
          <a:p>
            <a:pPr marL="0" indent="0">
              <a:buNone/>
              <a:defRPr/>
            </a:pPr>
            <a:r>
              <a:rPr lang="en-US" sz="2800" b="1">
                <a:solidFill>
                  <a:schemeClr val="tx2"/>
                </a:solidFill>
              </a:rPr>
              <a:t>Limitaciones y próximos pasos</a:t>
            </a:r>
            <a:endParaRPr lang="en-US" sz="2800"/>
          </a:p>
        </p:txBody>
      </p:sp>
      <p:sp>
        <p:nvSpPr>
          <p:cNvPr id="561325351" name="Text 1"/>
          <p:cNvSpPr txBox="1"/>
          <p:nvPr/>
        </p:nvSpPr>
        <p:spPr bwMode="auto">
          <a:xfrm>
            <a:off x="457200" y="1097280"/>
            <a:ext cx="3931920" cy="365760"/>
          </a:xfrm>
          <a:prstGeom prst="rect">
            <a:avLst/>
          </a:prstGeom>
          <a:noFill/>
          <a:ln/>
        </p:spPr>
        <p:txBody>
          <a:bodyPr wrap="square" lIns="0" tIns="0" rIns="0" bIns="0" rtlCol="0" anchor="t"/>
          <a:lstStyle/>
          <a:p>
            <a:pPr marL="0" indent="0">
              <a:buNone/>
              <a:defRPr/>
            </a:pPr>
            <a:r>
              <a:rPr lang="en-US" sz="1800" b="1">
                <a:solidFill>
                  <a:schemeClr val="tx2"/>
                </a:solidFill>
              </a:rPr>
              <a:t>Limitaciones</a:t>
            </a:r>
            <a:endParaRPr lang="en-US" sz="1800"/>
          </a:p>
        </p:txBody>
      </p:sp>
      <p:sp>
        <p:nvSpPr>
          <p:cNvPr id="1283624452" name="Text 2"/>
          <p:cNvSpPr txBox="1"/>
          <p:nvPr/>
        </p:nvSpPr>
        <p:spPr bwMode="auto">
          <a:xfrm>
            <a:off x="457200" y="1554480"/>
            <a:ext cx="3931920" cy="2743200"/>
          </a:xfrm>
          <a:prstGeom prst="rect">
            <a:avLst/>
          </a:prstGeom>
          <a:noFill/>
          <a:ln/>
        </p:spPr>
        <p:txBody>
          <a:bodyPr wrap="square" lIns="0" tIns="0" rIns="0" bIns="0" rtlCol="0" anchor="t"/>
          <a:lstStyle/>
          <a:p>
            <a:pPr marL="342900" indent="-342900">
              <a:spcAft>
                <a:spcPts val="800"/>
              </a:spcAft>
              <a:buSzPct val="100000"/>
              <a:buChar char="•"/>
              <a:defRPr/>
            </a:pPr>
            <a:r>
              <a:rPr lang="en-US" sz="1600">
                <a:solidFill>
                  <a:schemeClr val="tx1"/>
                </a:solidFill>
              </a:rPr>
              <a:t>Datos sintéticos</a:t>
            </a:r>
            <a:endParaRPr lang="en-US" sz="1600"/>
          </a:p>
          <a:p>
            <a:pPr marL="342900" indent="-342900">
              <a:spcAft>
                <a:spcPts val="800"/>
              </a:spcAft>
              <a:buSzPct val="100000"/>
              <a:buChar char="•"/>
              <a:defRPr/>
            </a:pPr>
            <a:r>
              <a:rPr lang="en-US" sz="1600">
                <a:solidFill>
                  <a:schemeClr val="tx1"/>
                </a:solidFill>
              </a:rPr>
              <a:t>Solo 22 fraudes en test, las métricas pueden variar</a:t>
            </a:r>
            <a:endParaRPr lang="en-US" sz="1600"/>
          </a:p>
          <a:p>
            <a:pPr marL="342900" indent="-342900">
              <a:spcAft>
                <a:spcPts val="800"/>
              </a:spcAft>
              <a:buSzPct val="100000"/>
              <a:buChar char="•"/>
              <a:defRPr/>
            </a:pPr>
            <a:r>
              <a:rPr lang="en-US" sz="1600">
                <a:solidFill>
                  <a:schemeClr val="tx1"/>
                </a:solidFill>
              </a:rPr>
              <a:t>4 fraudes no siguen ningún patrón</a:t>
            </a:r>
            <a:endParaRPr lang="en-US" sz="1600"/>
          </a:p>
        </p:txBody>
      </p:sp>
      <p:sp>
        <p:nvSpPr>
          <p:cNvPr id="728649105" name="Text 3"/>
          <p:cNvSpPr txBox="1"/>
          <p:nvPr/>
        </p:nvSpPr>
        <p:spPr bwMode="auto">
          <a:xfrm>
            <a:off x="4754880" y="1097280"/>
            <a:ext cx="3931920" cy="365760"/>
          </a:xfrm>
          <a:prstGeom prst="rect">
            <a:avLst/>
          </a:prstGeom>
          <a:noFill/>
          <a:ln/>
        </p:spPr>
        <p:txBody>
          <a:bodyPr wrap="square" lIns="0" tIns="0" rIns="0" bIns="0" rtlCol="0" anchor="t"/>
          <a:lstStyle/>
          <a:p>
            <a:pPr marL="0" indent="0">
              <a:buNone/>
              <a:defRPr/>
            </a:pPr>
            <a:r>
              <a:rPr lang="en-US" sz="1800" b="1">
                <a:solidFill>
                  <a:schemeClr val="tx2"/>
                </a:solidFill>
              </a:rPr>
              <a:t>Próximos pasos</a:t>
            </a:r>
            <a:endParaRPr lang="en-US" sz="1800"/>
          </a:p>
        </p:txBody>
      </p:sp>
      <p:sp>
        <p:nvSpPr>
          <p:cNvPr id="716254135" name="Text 4"/>
          <p:cNvSpPr txBox="1"/>
          <p:nvPr/>
        </p:nvSpPr>
        <p:spPr bwMode="auto">
          <a:xfrm>
            <a:off x="4754880" y="1554480"/>
            <a:ext cx="3931920" cy="2743200"/>
          </a:xfrm>
          <a:prstGeom prst="rect">
            <a:avLst/>
          </a:prstGeom>
          <a:noFill/>
          <a:ln/>
        </p:spPr>
        <p:txBody>
          <a:bodyPr wrap="square" lIns="0" tIns="0" rIns="0" bIns="0" rtlCol="0" anchor="t"/>
          <a:lstStyle/>
          <a:p>
            <a:pPr marL="342900" indent="-342900">
              <a:spcAft>
                <a:spcPts val="800"/>
              </a:spcAft>
              <a:buSzPct val="100000"/>
              <a:buChar char="•"/>
              <a:defRPr/>
            </a:pPr>
            <a:r>
              <a:rPr lang="en-US" sz="1600">
                <a:solidFill>
                  <a:schemeClr val="tx1"/>
                </a:solidFill>
              </a:rPr>
              <a:t>Variables con el historial del cliente</a:t>
            </a:r>
            <a:endParaRPr lang="en-US" sz="1600"/>
          </a:p>
          <a:p>
            <a:pPr marL="342900" indent="-342900">
              <a:spcAft>
                <a:spcPts val="800"/>
              </a:spcAft>
              <a:buSzPct val="100000"/>
              <a:buChar char="•"/>
              <a:defRPr/>
            </a:pPr>
            <a:r>
              <a:rPr lang="en-US" sz="1600">
                <a:solidFill>
                  <a:schemeClr val="tx1"/>
                </a:solidFill>
              </a:rPr>
              <a:t>Validación cruzada</a:t>
            </a:r>
            <a:endParaRPr lang="en-US" sz="1600"/>
          </a:p>
          <a:p>
            <a:pPr marL="342900" indent="-342900">
              <a:spcAft>
                <a:spcPts val="800"/>
              </a:spcAft>
              <a:buSzPct val="100000"/>
              <a:buChar char="•"/>
              <a:defRPr/>
            </a:pPr>
            <a:r>
              <a:rPr lang="en-US" sz="1600">
                <a:solidFill>
                  <a:schemeClr val="tx1"/>
                </a:solidFill>
              </a:rPr>
              <a:t>Calcular costos para elegir el umbral</a:t>
            </a:r>
            <a:endParaRPr lang="en-US" sz="1600"/>
          </a:p>
          <a:p>
            <a:pPr marL="342900" indent="-342900">
              <a:spcAft>
                <a:spcPts val="800"/>
              </a:spcAft>
              <a:buSzPct val="100000"/>
              <a:buChar char="•"/>
              <a:defRPr/>
            </a:pPr>
            <a:r>
              <a:rPr lang="en-US" sz="1600">
                <a:solidFill>
                  <a:schemeClr val="tx1"/>
                </a:solidFill>
              </a:rPr>
              <a:t>Probar el modelo antes de usarlo</a:t>
            </a:r>
            <a:endParaRPr lang="en-US" sz="1600"/>
          </a:p>
        </p:txBody>
      </p:sp>
      <p:sp>
        <p:nvSpPr>
          <p:cNvPr id="192041871" name="Slide Number Placeholder 0"/>
          <p:cNvSpPr>
            <a:spLocks noGrp="1"/>
          </p:cNvSpPr>
          <p:nvPr>
            <p:ph type="sldNum" sz="quarter" idx="4294967295"/>
          </p:nvPr>
        </p:nvSpPr>
        <p:spPr bwMode="auto">
          <a:xfrm>
            <a:off x="8412480" y="4754880"/>
            <a:ext cx="457200" cy="274320"/>
          </a:xfrm>
          <a:prstGeom prst="rect">
            <a:avLst/>
          </a:prstGeom>
        </p:spPr>
        <p:txBody>
          <a:bodyPr/>
          <a:lstStyle>
            <a:lvl1pPr>
              <a:defRPr sz="1000">
                <a:solidFill>
                  <a:schemeClr val="accent6"/>
                </a:solidFill>
              </a:defRPr>
            </a:lvl1pPr>
          </a:lstStyle>
          <a:p>
            <a:pPr algn="l">
              <a:defRPr/>
            </a:pPr>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spTree>
      <p:nvGrpSpPr>
        <p:cNvPr id="1" name=""/>
        <p:cNvGrpSpPr/>
        <p:nvPr/>
      </p:nvGrpSpPr>
      <p:grpSpPr bwMode="auto">
        <a:xfrm>
          <a:off x="0" y="0"/>
          <a:ext cx="0" cy="0"/>
          <a:chOff x="0" y="0"/>
          <a:chExt cx="0" cy="0"/>
        </a:xfrm>
      </p:grpSpPr>
      <p:sp>
        <p:nvSpPr>
          <p:cNvPr id="1067839986" name="Text 0"/>
          <p:cNvSpPr/>
          <p:nvPr>
            <p:ph type="title" idx="100" hasCustomPrompt="1"/>
          </p:nvPr>
        </p:nvSpPr>
        <p:spPr bwMode="auto">
          <a:xfrm>
            <a:off x="548640" y="1463040"/>
            <a:ext cx="8046720" cy="1280160"/>
          </a:xfrm>
          <a:prstGeom prst="rect">
            <a:avLst/>
          </a:prstGeom>
          <a:noFill/>
          <a:ln/>
        </p:spPr>
        <p:txBody>
          <a:bodyPr wrap="square" lIns="0" tIns="0" rIns="0" bIns="0" rtlCol="0" anchor="b"/>
          <a:lstStyle/>
          <a:p>
            <a:pPr marL="0" indent="0">
              <a:buNone/>
              <a:defRPr/>
            </a:pPr>
            <a:r>
              <a:rPr lang="en-US" sz="3600" b="1">
                <a:solidFill>
                  <a:schemeClr val="bg1"/>
                </a:solidFill>
              </a:rPr>
              <a:t>Conclusion</a:t>
            </a:r>
            <a:endParaRPr lang="en-US" sz="3600"/>
          </a:p>
        </p:txBody>
      </p:sp>
      <p:sp>
        <p:nvSpPr>
          <p:cNvPr id="242898998" name="Text 1"/>
          <p:cNvSpPr txBox="1"/>
          <p:nvPr/>
        </p:nvSpPr>
        <p:spPr bwMode="auto">
          <a:xfrm>
            <a:off x="548640" y="2926080"/>
            <a:ext cx="8046720" cy="1463040"/>
          </a:xfrm>
          <a:prstGeom prst="rect">
            <a:avLst/>
          </a:prstGeom>
          <a:noFill/>
          <a:ln/>
        </p:spPr>
        <p:txBody>
          <a:bodyPr wrap="square" lIns="0" tIns="0" rIns="0" bIns="0" rtlCol="0" anchor="t"/>
          <a:lstStyle/>
          <a:p>
            <a:pPr marL="342900" indent="-342900">
              <a:spcAft>
                <a:spcPts val="600"/>
              </a:spcAft>
              <a:buSzPct val="100000"/>
              <a:buChar char="•"/>
              <a:defRPr/>
            </a:pPr>
            <a:r>
              <a:rPr lang="en-US" sz="1600">
                <a:solidFill>
                  <a:schemeClr val="bg1"/>
                </a:solidFill>
              </a:rPr>
              <a:t>El fraude depende de cuánto y cuándo: monto alto de noche</a:t>
            </a:r>
            <a:endParaRPr lang="en-US" sz="1600"/>
          </a:p>
          <a:p>
            <a:pPr marL="342900" indent="-342900">
              <a:spcAft>
                <a:spcPts val="600"/>
              </a:spcAft>
              <a:buSzPct val="100000"/>
              <a:buChar char="•"/>
              <a:defRPr/>
            </a:pPr>
            <a:r>
              <a:rPr lang="en-US" sz="1600">
                <a:solidFill>
                  <a:schemeClr val="bg1"/>
                </a:solidFill>
              </a:rPr>
              <a:t>El Random Forest detecta los fraudes sin molestar a casi ningún cliente</a:t>
            </a:r>
            <a:endParaRPr lang="en-US" sz="1600"/>
          </a:p>
          <a:p>
            <a:pPr marL="342900" indent="-342900">
              <a:spcAft>
                <a:spcPts val="600"/>
              </a:spcAft>
              <a:buSzPct val="100000"/>
              <a:buChar char="•"/>
              <a:defRPr/>
            </a:pPr>
            <a:r>
              <a:rPr lang="en-US" sz="1600">
                <a:solidFill>
                  <a:schemeClr val="bg1"/>
                </a:solidFill>
              </a:rPr>
              <a:t>Con 3 niveles de riesgo la mayoría de clientes no siente ninguna molestia</a:t>
            </a:r>
            <a:endParaRPr lang="en-US" sz="1600"/>
          </a:p>
        </p:txBody>
      </p:sp>
      <p:sp>
        <p:nvSpPr>
          <p:cNvPr id="1993735285" name="Text 2"/>
          <p:cNvSpPr txBox="1"/>
          <p:nvPr/>
        </p:nvSpPr>
        <p:spPr bwMode="auto">
          <a:xfrm>
            <a:off x="548640" y="4480560"/>
            <a:ext cx="8046720" cy="365760"/>
          </a:xfrm>
          <a:prstGeom prst="rect">
            <a:avLst/>
          </a:prstGeom>
          <a:noFill/>
          <a:ln/>
        </p:spPr>
        <p:txBody>
          <a:bodyPr wrap="square" lIns="0" tIns="0" rIns="0" bIns="0" rtlCol="0" anchor="t"/>
          <a:lstStyle/>
          <a:p>
            <a:pPr marL="0" indent="0">
              <a:buNone/>
              <a:defRPr/>
            </a:pPr>
            <a:r>
              <a:rPr lang="en-US" sz="1400" i="1">
                <a:solidFill>
                  <a:schemeClr val="accent5"/>
                </a:solidFill>
              </a:rPr>
              <a:t>Gracias, preguntas?</a:t>
            </a:r>
            <a:endParaRPr lang="en-US"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Simple">
  <a:themeElements>
    <a:clrScheme name="Simple">
      <a:dk1>
        <a:srgbClr val="222222"/>
      </a:dk1>
      <a:lt1>
        <a:srgbClr val="FFFFFF"/>
      </a:lt1>
      <a:dk2>
        <a:srgbClr val="1F3864"/>
      </a:dk2>
      <a:lt2>
        <a:srgbClr val="F2F2F2"/>
      </a:lt2>
      <a:accent1>
        <a:srgbClr val="1F3864"/>
      </a:accent1>
      <a:accent2>
        <a:srgbClr val="C55A11"/>
      </a:accent2>
      <a:accent3>
        <a:srgbClr val="2E75B6"/>
      </a:accent3>
      <a:accent4>
        <a:srgbClr val="548235"/>
      </a:accent4>
      <a:accent5>
        <a:srgbClr val="BDD7EE"/>
      </a:accent5>
      <a:accent6>
        <a:srgbClr val="595959"/>
      </a:accent6>
      <a:hlink>
        <a:srgbClr val="2E75B6"/>
      </a:hlink>
      <a:folHlink>
        <a:srgbClr val="7030A0"/>
      </a:folHlink>
    </a:clrScheme>
    <a:fontScheme name="Simpl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ONLYOFFICE/9.1.0.167</Application>
  <PresentationFormat>On-screen Show (4:3)</PresentationFormat>
  <Paragraphs>0</Paragraphs>
  <Slides>11</Slides>
  <Notes>11</Notes>
  <HiddenSlides>0</HiddenSlides>
  <MMClips>2</MMClips>
  <ScaleCrop>0</ScaleCrop>
  <HeadingPairs>
    <vt:vector size="4" baseType="variant">
      <vt:variant>
        <vt:lpstr>Theme</vt:lpstr>
      </vt:variant>
      <vt:variant>
        <vt:i4>1</vt:i4>
      </vt:variant>
      <vt:variant>
        <vt:lpstr>Slide Titles</vt:lpstr>
      </vt:variant>
      <vt:variant>
        <vt:i4>11</vt:i4>
      </vt:variant>
    </vt:vector>
  </HeadingPairs>
  <TitlesOfParts>
    <vt:vector size="12"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Detección de fraude bancario con KDD</dc:title>
  <dc:subject>PptxGenJS Presentation</dc:subject>
  <dc:creator>PptxGenJS</dc:creator>
  <cp:lastModifiedBy/>
  <cp:revision>3</cp:revision>
  <dcterms:created xsi:type="dcterms:W3CDTF">2026-10-29T03:35:22Z</dcterms:created>
  <dcterms:modified xsi:type="dcterms:W3CDTF">2026-10-29T06:31:42Z</dcterms:modified>
</cp:coreProperties>
</file>